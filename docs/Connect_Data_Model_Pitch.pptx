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already believe in this idea (OMOP) — we just never applied it to our own Connect data. The accepted model is Dictionary-Direct; further capabilities are adopted as incremental enhancements. See internal_pitch.md —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opener: why model at all. Six plain-English value props — self-describing; queryable without tribal knowledge; metadata in the data (not sidecar files); standardized analyses; a schema contract tools can build on (and survive new data); shared abstractions (all select-all handled one way, all loops one way). Sets up the next slide: this is exactly the OMOP lesson. See internal_pitch.md — Why a data model at all?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OMOP principle the team already accepts. See internal_pitch.md — Why a data model at all?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 pains. Punchline lands after the exhibits. See internal_pitch.md — Why — the problems we all live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colleague's flagship report — evidence, not criticism. See internal_pitch.md — This isn't hypothetical.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Recalibrated: ~35% directly generatable (value/type/length); a further ~50% skip-gated -&gt; becomes shared skip-logic data authored ONCE instead of re-coded across 3 repos (simple majority machine-generated, ~8% complex tail like percentDiff preserved as raw expression). ~15% genuinely custom. Contingent on the richer (QuickQ) skip_rule representation. Module 4 ~50% custom is the honest counter-case. See internal_pitch.md — QA/QC engine; CLAUDE.md — Skip-logic complexity &amp; coverage.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Strongest case for the concept-equivalence enhancement — argues to pull it forward. See internal_pitch.md — geocoding.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model: CIDTool dictionary as-is + one responses fact. See internal_pitch.md —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EASE-IN framing for a skeptical audience. The current encoding isn't wrong — it faithfully mirrors physical storage (a multi-select really is N 0/1 columns). The model's improvement is logical: an option is an answer choice, not a question, so it belongs in response_options; 'selected' becomes the presence of a row instead of a synthetic Yes/No. Same tooth-loss example as the docs (899251483; options 812107266 accident / 452438775 decay / 886864375 other / 551489317 none; Yes/No = 353358909/104430631). Quest disambiguates select-all [ ] vs single-select ( ) vs grid |grid|. Nothing is thrown away; the dictionary remains the source of truth and this view sits on top. See CLAUDE.md — Source Question is overloaded.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larger redesign was not adopted wholesale; its features are these incremental enhancements on the accepted Dictionary-Direct model. Each attaches to the same responses fact and keeps the dictionary as the source of truth. Honest dependencies (from the backlog): CIDTool maturity for dims, a Quest parser for skip_logic, and governance as an org/IRB effort. See docs/enhancement_backlog.md.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long-format thesis as our model, arrived at independently. The one fix: concept IDs, not strings. See CLAUDE.md — Event plane: DevOps long-format proposal; docs/devops_event_tables_memo.md.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hub (~ OMOP visit) off participants; response_sessions = DevOps 'surveys' table; collection/kit/incentive/refusal facts key on (connect_id, round); v_participant_events = SMDB unified view. See dbml/data_model_events.dbml.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analytics-marts enhancement (#8), downstream of the model via dbt. Pitch = highest-value case of the OMOP 'write analytics once' thesis: derived variables defined once, canonically, with lineage — vs. re-coded per study (the 3 pain repos). dbt features map to our principles: dbt docs DAG = lineage to source (#12); SQL is the definition (no black box, #12); source()/ref()+access enforce Core→Analytic→Marts (#8); tests move much of the 7,025-rule QC into CI; sensitivity_tier flows via meta, enforced in IAM (#11); model versions/exposures = a derived-variable catalog. Recommend one mart PER construct (grouped), not a wide mega-table. Grain: participant, or participant×wave for longitudinal. Examples map to established cancer-prevention exposure domains (WCRF/AICR). See CLAUDE.md — Derived variables, lineage &amp; dbt / Mart catalog.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SQL for each row is in internal_pitch.md — Value proposition (Q1–Q5).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data is synthetic (sql/demo_long_format.sql, runs in DuckDB ~ BigQuery). The labels come from joining the dictionary; analysts never memorize concept ids. v_long packages this join so it's literally SELECT * FROM v_long.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Reframed: the pivot is GENERIC and metadata-driven — no hardcoded column list (the opposite of a wide-table script). NOTE on completeness: DuckDB's PIVOT implicitly groups by every column not in ON/USING, so you must project to (id, name, value) first — that's the subquery shown; this exact statement runs. The fully-dynamic ON…USING form is DuckDB; BigQuery's PIVOT needs the value list (FOR question_text IN (...)) or dynamic SQL. pandas.pivot and tidyr::pivot_wider are fully dynamic and are what analysts already use. All three verified against sql/demo_long_format.sql (synthetic). Select-all is excluded (multi-valued → belongs in long, next slide). Parameterize by survey → a reusable get_wide() helper (tool built on the contract).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Counts are GROUP BY — often simpler than wide. Select-all is the standout: wide makes you know and sum a changing set of indicator columns; long is one group-by on response_label. Same query shape works for every question by swapping the concept id (e.g. Smoking Status -&gt; Never 2 / Former 2 / Current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Ask: stand up the accepted model now; adopt enhancements incrementally (esp. governance #7 and dbt marts #8); consider pulling the concept-equivalence enhancement forward (geocoding). See internal_pitch.md —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73152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Connect Relational Data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D5D7"/>
                </a:solidFill>
                <a:latin typeface="Calibri"/>
              </a:rPr>
              <a:t>Why a data model — the accepted Dictionary-Direct model + its enhancement roadmap for PR2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A9DA3"/>
                </a:solidFill>
                <a:latin typeface="Calibri"/>
              </a:rPr>
              <a:t>Team walk-through  ·  detailed notes in internal_pitch.md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Why a data model?</a:t>
            </a:r>
          </a:p>
          <a:p>
            <a:r>
              <a:rPr sz="1300" i="1">
                <a:solidFill>
                  <a:srgbClr val="BBD5D7"/>
                </a:solidFill>
              </a:rPr>
              <a:t>Make the data explain itself — so analysis doesn't depend on tribal knowledge or bespoke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874519"/>
            <a:ext cx="3575304" cy="1737360"/>
          </a:xfrm>
          <a:prstGeom prst="roundRect">
            <a:avLst/>
          </a:prstGeom>
          <a:solidFill>
            <a:srgbClr val="EDF1F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/>
          <a:lstStyle/>
          <a:p>
            <a:pPr algn="ctr"/>
            <a:r>
              <a:rPr b="1" sz="1600">
                <a:solidFill>
                  <a:srgbClr val="16324F"/>
                </a:solidFill>
                <a:latin typeface="Calibri"/>
              </a:rPr>
              <a:t>Self-describing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5A636E"/>
                </a:solidFill>
                <a:latin typeface="Calibri"/>
              </a:rPr>
              <a:t>Meaning travels with the data — no decoder ring required.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06824" y="1874519"/>
            <a:ext cx="3575304" cy="1737360"/>
          </a:xfrm>
          <a:prstGeom prst="roundRect">
            <a:avLst/>
          </a:prstGeom>
          <a:solidFill>
            <a:srgbClr val="EDF1F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/>
          <a:lstStyle/>
          <a:p>
            <a:pPr algn="ctr"/>
            <a:r>
              <a:rPr b="1" sz="1600">
                <a:solidFill>
                  <a:srgbClr val="16324F"/>
                </a:solidFill>
                <a:latin typeface="Calibri"/>
              </a:rPr>
              <a:t>No tribal knowledge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5A636E"/>
                </a:solidFill>
                <a:latin typeface="Calibri"/>
              </a:rPr>
              <a:t>Labels, structure &amp; valid values live in the data — query it correctly without insider context.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56448" y="1874519"/>
            <a:ext cx="3575304" cy="1737360"/>
          </a:xfrm>
          <a:prstGeom prst="roundRect">
            <a:avLst/>
          </a:prstGeom>
          <a:solidFill>
            <a:srgbClr val="EDF1F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/>
          <a:lstStyle/>
          <a:p>
            <a:pPr algn="ctr"/>
            <a:r>
              <a:rPr b="1" sz="1600">
                <a:solidFill>
                  <a:srgbClr val="16324F"/>
                </a:solidFill>
                <a:latin typeface="Calibri"/>
              </a:rPr>
              <a:t>Metadata in the data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5A636E"/>
                </a:solidFill>
                <a:latin typeface="Calibri"/>
              </a:rPr>
              <a:t>Not in side-car spreadsheets or scripts that drift out of sync.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94760"/>
            <a:ext cx="3575304" cy="1737360"/>
          </a:xfrm>
          <a:prstGeom prst="roundRect">
            <a:avLst/>
          </a:prstGeom>
          <a:solidFill>
            <a:srgbClr val="EDF1F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/>
          <a:lstStyle/>
          <a:p>
            <a:pPr algn="ctr"/>
            <a:r>
              <a:rPr b="1" sz="1600">
                <a:solidFill>
                  <a:srgbClr val="16324F"/>
                </a:solidFill>
                <a:latin typeface="Calibri"/>
              </a:rPr>
              <a:t>Standardized analyses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5A636E"/>
                </a:solidFill>
                <a:latin typeface="Calibri"/>
              </a:rPr>
              <a:t>The same question is answered the same way by everyone.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6824" y="3794760"/>
            <a:ext cx="3575304" cy="1737360"/>
          </a:xfrm>
          <a:prstGeom prst="roundRect">
            <a:avLst/>
          </a:prstGeom>
          <a:solidFill>
            <a:srgbClr val="EDF1F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/>
          <a:lstStyle/>
          <a:p>
            <a:pPr algn="ctr"/>
            <a:r>
              <a:rPr b="1" sz="1600">
                <a:solidFill>
                  <a:srgbClr val="16324F"/>
                </a:solidFill>
                <a:latin typeface="Calibri"/>
              </a:rPr>
              <a:t>A schema contract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5A636E"/>
                </a:solidFill>
                <a:latin typeface="Calibri"/>
              </a:rPr>
              <a:t>Tools built on it keep running when new data arrives.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3794760"/>
            <a:ext cx="3575304" cy="1737360"/>
          </a:xfrm>
          <a:prstGeom prst="roundRect">
            <a:avLst/>
          </a:prstGeom>
          <a:solidFill>
            <a:srgbClr val="EDF1F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/>
          <a:lstStyle/>
          <a:p>
            <a:pPr algn="ctr"/>
            <a:r>
              <a:rPr b="1" sz="1600">
                <a:solidFill>
                  <a:srgbClr val="16324F"/>
                </a:solidFill>
                <a:latin typeface="Calibri"/>
              </a:rPr>
              <a:t>Shared abstractions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5A636E"/>
                </a:solidFill>
                <a:latin typeface="Calibri"/>
              </a:rPr>
              <a:t>Every select-all handled one way; every loop one way — no per-question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806440"/>
            <a:ext cx="11274552" cy="658368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Today that knowledge lives in column-name conventions, spreadsheets, and analysts' heads. A data model puts it in the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…and it's the OMOP lesson — applied to our own data</a:t>
            </a:r>
          </a:p>
          <a:p>
            <a:r>
              <a:rPr sz="1300" i="1">
                <a:solidFill>
                  <a:srgbClr val="BBD5D7"/>
                </a:solidFill>
              </a:rPr>
              <a:t>The power isn't the table layout — it's relationships defined as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E8B8B"/>
                </a:solidFill>
                <a:latin typeface="Calibri"/>
              </a:rPr>
              <a:t>Defined relationships between concepts &amp; domains → analytics written once, reused across teams. That is exactly why we adopted OMOP.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6692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What OMOP defines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The same idea in our model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concept — analyze standard concepts, not source codes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concept-ID spine — query concepts, not d_ columns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concept_relationship / concept_ancestor — link &amp; roll up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concept_relationship / question_equivalence (planned)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long event tables + _source_concept_id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long responses fact + retained source columns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standard model → tools reused across 200 sites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stable contract → shared views/tools across teams + PR2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521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A636E"/>
                </a:solidFill>
                <a:latin typeface="Calibri"/>
              </a:rPr>
              <a:t>One source, not many — no cross-site network effect; reuse comes from the relationships, across our teams &amp; researchers. OMOP becomes a downstream export.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The problem: we analyze raw source data</a:t>
            </a:r>
          </a:p>
          <a:p>
            <a:r>
              <a:rPr sz="1300" i="1">
                <a:solidFill>
                  <a:srgbClr val="BBD5D7"/>
                </a:solidFill>
              </a:rPr>
              <a:t>Our analysis-ready data is wide tables of opaque concept-ID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222A33"/>
                </a:solidFill>
                <a:latin typeface="Calibri"/>
              </a:rPr>
              <a:t>•  Dancing schema — every new answer/option/loop adds columns; pipelines break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222A33"/>
                </a:solidFill>
                <a:latin typeface="Calibri"/>
              </a:rPr>
              <a:t>•  Not generically queryable — every analysis hardcodes column names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222A33"/>
                </a:solidFill>
                <a:latin typeface="Calibri"/>
              </a:rPr>
              <a:t>•  Version drift — v1/v2 columns reconciled by hand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222A33"/>
                </a:solidFill>
                <a:latin typeface="Calibri"/>
              </a:rPr>
              <a:t>•  Ambiguous missingness — blank = not selected? not shown? not taken?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222A33"/>
                </a:solidFill>
                <a:latin typeface="Calibri"/>
              </a:rPr>
              <a:t>•  No built-in governance — PHI/PII is a manual, unenforced allow-list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C7D15"/>
                </a:solidFill>
                <a:latin typeface="Calibri"/>
              </a:rPr>
              <a:t>In OMOP terms, these wide tables are source data — and we're analyzing them raw.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Exhibit 1 — our own Module 1 report</a:t>
            </a:r>
          </a:p>
          <a:p>
            <a:r>
              <a:rPr sz="1300" i="1">
                <a:solidFill>
                  <a:srgbClr val="BBD5D7"/>
                </a:solidFill>
              </a:rPr>
              <a:t>"Merged Module 1 Summary Statistics" · 6,234 lines · scheduled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8B8B"/>
                </a:solidFill>
                <a:latin typeface="Calibri"/>
              </a:rPr>
              <a:t>~650 lines rebuild the model by hand before the first statistic: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Hand-rolled v1/v2 merge — re-runs every refresh, column-name dependent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150-entry label dictionary typed by hand — with duplicate-key bugs &amp; typos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Skip logic &amp; loops reimplemented as bespoke functions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Every missing value → "Skipped this Question" — 3 cases conflated (counts inflated)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A636E"/>
                </a:solidFill>
                <a:latin typeface="Calibri"/>
              </a:rPr>
              <a:t>→ The model does the merge once (GROUP BY concept), generates labels, and makes skip/loops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Exhibit 2 — the QA/QC engine</a:t>
            </a:r>
          </a:p>
          <a:p>
            <a:r>
              <a:rPr sz="1300" i="1">
                <a:solidFill>
                  <a:srgbClr val="BBD5D7"/>
                </a:solidFill>
              </a:rPr>
              <a:t>1,271-line engine + 14 Excel workbooks = 7,025 hand-written rules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840480"/>
              </a:tblGrid>
              <a:tr h="483325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The rule checks…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# (all 14 workbooks)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Already in the model as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Cross-variable condition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3,454  (49%)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skip_logic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Numeric / date / time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883  (13%)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variable_metadata.variable_type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String length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792  (11%)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variable_metadata.variable_length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Answer ∈ valid option set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773  (11%)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response_options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Populated / required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65  (1%)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skip_logic / is_required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Genuinely custom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1,058  (15%)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— needs authoring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2356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7D15"/>
                </a:solidFill>
                <a:latin typeface="Calibri"/>
              </a:rPr>
              <a:t>Most re-state metadata the model centralizes; complex cross-variable logic is authored once — not re-coded in 3 places.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44768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A636E"/>
                </a:solidFill>
                <a:latin typeface="Calibri"/>
              </a:rPr>
              <a:t>Honest limits: ~35% are pure value/type/length checks; the skip-gated rest needs the richer skip-logic model (~8% complex tail authored once). Module 4 ≈ 50% custom.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Exhibit 3 — geocoding &amp; unharmonized concept IDs</a:t>
            </a:r>
          </a:p>
          <a:p>
            <a:r>
              <a:rPr sz="1300" i="1">
                <a:solidFill>
                  <a:srgbClr val="BBD5D7"/>
                </a:solidFill>
              </a:rPr>
              <a:t>Same field, no relationship linking its variants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900">
                <a:solidFill>
                  <a:srgbClr val="222A33"/>
                </a:solidFill>
                <a:latin typeface="Calibri"/>
              </a:rPr>
              <a:t>•  "Street name of a residence" = ~27 unrelated concept IDs (home ×11, seasonal ×10, work, school, childhood…)</a:t>
            </a:r>
          </a:p>
          <a:p>
            <a:pPr>
              <a:spcAft>
                <a:spcPts val="1300"/>
              </a:spcAft>
            </a:pPr>
            <a:r>
              <a:rPr sz="1900">
                <a:solidFill>
                  <a:srgbClr val="222A33"/>
                </a:solidFill>
                <a:latin typeface="Calibri"/>
              </a:rPr>
              <a:t>•  Three separate codebases each rebuild the same address crosswalk</a:t>
            </a:r>
          </a:p>
          <a:p>
            <a:pPr>
              <a:spcAft>
                <a:spcPts val="1300"/>
              </a:spcAft>
            </a:pPr>
            <a:r>
              <a:rPr sz="1900">
                <a:solidFill>
                  <a:srgbClr val="222A33"/>
                </a:solidFill>
                <a:latin typeface="Calibri"/>
              </a:rPr>
              <a:t>•  One even string-matches question labels as join keys (fragile — labels drift)</a:t>
            </a:r>
          </a:p>
          <a:p>
            <a:pPr>
              <a:spcAft>
                <a:spcPts val="1300"/>
              </a:spcAft>
            </a:pPr>
            <a:r>
              <a:rPr sz="1900">
                <a:solidFill>
                  <a:srgbClr val="222A33"/>
                </a:solidFill>
                <a:latin typeface="Calibri"/>
              </a:rPr>
              <a:t>•  No "address" or "street_name" concept generalizes → nothing reusable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C7D15"/>
                </a:solidFill>
                <a:latin typeface="Calibri"/>
              </a:rPr>
              <a:t>Fix: concept_relationship / question_equivalence — author "these are the same field" once, as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The idea — answers become rows</a:t>
            </a:r>
          </a:p>
          <a:p>
            <a:r>
              <a:rPr sz="1300" i="1">
                <a:solidFill>
                  <a:srgbClr val="BBD5D7"/>
                </a:solidFill>
              </a:rPr>
              <a:t>The model: the dictionary as-is + one long responses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del_a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638" y="1325880"/>
            <a:ext cx="11532419" cy="4617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A636E"/>
                </a:solidFill>
                <a:latin typeface="Calibri"/>
              </a:rPr>
              <a:t>New answers / options / loops are rows, never new columns. Full model ERD (Dictionary-Direct).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 closer look: select-all questions</a:t>
            </a:r>
          </a:p>
          <a:p>
            <a:r>
              <a:rPr sz="1300" i="1">
                <a:solidFill>
                  <a:srgbClr val="BBD5D7"/>
                </a:solidFill>
              </a:rPr>
              <a:t>Same data, a clearer shape — the dictionary stays the source of truth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8B8B"/>
                </a:solidFill>
                <a:latin typeface="Calibri"/>
              </a:rPr>
              <a:t>Today's encoding faithfully mirrors how the data is stored. The model just adds a logical view on top — nothing is lost, the dictionary is unchanged.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3383280"/>
                <a:gridCol w="33832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Example: "Have you lost any permanent teeth?"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Dictionary today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Model — logical view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222A33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shifted into "Source Question"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one question (multi_select)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222A33"/>
                          </a:solidFill>
                          <a:latin typeface="Calibri"/>
                        </a:rPr>
                        <a:t>Each option (e.g. "from accident")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promoted to its own "Question"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a response option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222A33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a synthetic Yes/No per option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one row per option actually selected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222A33"/>
                          </a:solidFill>
                          <a:latin typeface="Calibri"/>
                        </a:rPr>
                        <a:t>Add an option next year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a new column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a new row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A636E"/>
                </a:solidFill>
                <a:latin typeface="Calibri"/>
              </a:rPr>
              <a:t>Phased &amp; low-risk: the dictionary tables are untouched; this is a view we layer on — adopt it where it helps, keep everything else as-is.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Incremental enhancements — the roadmap</a:t>
            </a:r>
          </a:p>
          <a:p>
            <a:r>
              <a:rPr sz="1300" i="1">
                <a:solidFill>
                  <a:srgbClr val="BBD5D7"/>
                </a:solidFill>
              </a:rPr>
              <a:t>Each a bounded add-on to the accepted model — same responses fact, dictionary stays the source of truth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25880"/>
          <a:ext cx="1106424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4160520"/>
                <a:gridCol w="640080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Enhancement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Normalized question-type view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templated per-type SQL across surveys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Typed value columns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numeric analysis; coded answers join labels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Improved version handling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unify V1/V2; offered-vs-not-selected answerable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skip_logic (from Quest)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skip logic queryable; most QA/QC rules generated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response_sessions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true missingness (not-asked vs not-answered)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Concept equivalence (demo built)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harmonize reused fields once, as data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Governance (sensitivity + IAM)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external-release readiness (PHI/PII) for PR2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Analytics marts (dbt)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curated, reproducible derived variables + lineage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Event plane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long-format win for operational/biospecimen data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521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7D15"/>
                </a:solidFill>
                <a:latin typeface="Calibri"/>
              </a:rPr>
              <a:t>Adopt one at a time as need pulls it in. Governance (#7) gates external sharing; dbt marts (#8) deliver the most researcher value. See enhancement_backlog.md.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New: events are going long-format too</a:t>
            </a:r>
          </a:p>
          <a:p>
            <a:r>
              <a:rPr sz="1300" i="1">
                <a:solidFill>
                  <a:srgbClr val="BBD5D7"/>
                </a:solidFill>
              </a:rPr>
              <a:t>DevOps is moving follow-ups from nested columns to per-type event tables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Per-type long tables: activities · collections · kits · surveys · incentives · refusals (+ collectionDetails)</a:t>
            </a:r>
          </a:p>
          <a:p>
            <a:pPr>
              <a:spcAft>
                <a:spcPts val="13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Shared key on every table: (Connect ID, Round) — Round + activity type = the encounter</a:t>
            </a:r>
          </a:p>
          <a:p>
            <a:pPr>
              <a:spcAft>
                <a:spcPts val="13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collectionDetails: ~120 nested fields → 14 columns; a new round/specimen = zero schema change</a:t>
            </a:r>
          </a:p>
          <a:p>
            <a:pPr>
              <a:spcAft>
                <a:spcPts val="13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Risk: human-readable names &amp; values dropped the concept IDs → won't link to Primary/Secondary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C7D15"/>
                </a:solidFill>
                <a:latin typeface="Calibri"/>
              </a:rPr>
              <a:t>Keep the long format — re-attach a concept_id to every column &amp; value (one vocab, one ID: Mouthwash = MW = Home Mouthwash).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Draft: the reconciled event plane</a:t>
            </a:r>
          </a:p>
          <a:p>
            <a:r>
              <a:rPr sz="1300" i="1">
                <a:solidFill>
                  <a:srgbClr val="BBD5D7"/>
                </a:solidFill>
              </a:rPr>
              <a:t>Round = the encounter; surveys &amp; events share it; concept-typed columns keep dictionary links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vent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6526" y="1280160"/>
            <a:ext cx="5778643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A636E"/>
                </a:solidFill>
                <a:latin typeface="Calibri"/>
              </a:rPr>
              <a:t>Separate per-type event facts + a unified view (the SMDB summary). DRAFT — pending DevOps confirmation of Round-as-encounter.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Curated derived variables (dbt marts)</a:t>
            </a:r>
          </a:p>
          <a:p>
            <a:r>
              <a:rPr sz="1300" i="1">
                <a:solidFill>
                  <a:srgbClr val="BBD5D7"/>
                </a:solidFill>
              </a:rPr>
              <a:t>Define each research variable once — tested, governed, lineage to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8B8B"/>
                </a:solidFill>
                <a:latin typeface="Calibri"/>
              </a:rPr>
              <a:t>The payoff of "write analytics once": a canonical pack-years / BMI / risk score every researcher reuses — not re-derived per study.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384048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Example marts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Canonical derived variable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Behavioral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smoking · alcohol · physical_activity · diet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pack-years · MET-hours/week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Anthropometric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anthropometry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BMI (height + weight)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Host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reproductive_history · family_history · genetic_risk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parity · hereditary-risk flag · polygenic risk score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Clinical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medical_history · medications · screening_history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comorbidity index · regular aspirin use · up-to-date-with-screening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Environmental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environmental_exposures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Area Deprivation Index (from geocoded address)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7D15"/>
                </a:solidFill>
                <a:latin typeface="Calibri"/>
              </a:rPr>
              <a:t>Why dbt: model-level lineage to source · tests = contracts in CI · one-directional layer boundary · sensitivity tiers flow to marts (enforced in IAM).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A636E"/>
                </a:solidFill>
                <a:latin typeface="Calibri"/>
              </a:rPr>
              <a:t>Honest: derivation is real epi work (owner + sign-off per variable); marts are curated, not the only access — raw responses stay reachable.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Same queries, two ways</a:t>
            </a:r>
          </a:p>
          <a:p>
            <a:r>
              <a:rPr sz="1300" i="1">
                <a:solidFill>
                  <a:srgbClr val="BBD5D7"/>
                </a:solidFill>
              </a:rPr>
              <a:t>From painful/impossible → routine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743200"/>
                <a:gridCol w="2743200"/>
                <a:gridCol w="27432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Standard query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Wide (today)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With an enhancement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Multi-select distribution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unpivot + v1/v2 COALESCE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filtered group-by; versions pool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plain group-by / view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Labeled distribution, any question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bespoke CASE, no reuse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parameterized by concept_id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precomputed mart aggregate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Completion &amp; true missingness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ambiguous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still ambiguous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sessions + skip_logic (#5/#4)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Non-PHI extract (governance)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manual allow-list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manual allow-list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sensitivity tier + IAM (#7)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Harmonized field across surveys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rebuild crosswalk (3 repos)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pool a reused concept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concept equivalence (#6)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852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A636E"/>
                </a:solidFill>
                <a:latin typeface="Calibri"/>
              </a:rPr>
              <a:t>The model fixes the loud, everyday pains; enhancements unlock missingness, governance &amp; harmonization.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Analyzing long format (1/3) — labels are one join away</a:t>
            </a:r>
          </a:p>
          <a:p>
            <a:r>
              <a:rPr sz="1300" i="1">
                <a:solidFill>
                  <a:srgbClr val="BBD5D7"/>
                </a:solidFill>
              </a:rPr>
              <a:t>Every row says what it means: concept id + human label, side by 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5577840" cy="2468880"/>
          </a:xfrm>
          <a:prstGeom prst="rect">
            <a:avLst/>
          </a:prstGeom>
          <a:solidFill>
            <a:srgbClr val="1E293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37160" tIns="109728"/>
          <a:lstStyle/>
          <a:p>
            <a:pPr algn="ctr">
              <a:lnSpc>
                <a:spcPct val="100000"/>
              </a:lnSpc>
            </a:pPr>
            <a:r>
              <a:rPr sz="1250">
                <a:solidFill>
                  <a:srgbClr val="8BA6C0"/>
                </a:solidFill>
                <a:latin typeface="Courier New"/>
              </a:rPr>
              <a:t>-- one join attaches a label to every answer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SELECT connect_id, question_text,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       response_concept_id, response_label, value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FROM responses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JOIN question USING (question_concept_id)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LEFT JOIN response USING (response_concept_id)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WHERE connect_id = 1001;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0" y="1325880"/>
          <a:ext cx="54864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005840"/>
                <a:gridCol w="2377440"/>
                <a:gridCol w="548640"/>
              </a:tblGrid>
              <a:tr h="352697">
                <a:tc>
                  <a:txBody>
                    <a:bodyPr wrap="square"/>
                    <a:lstStyle/>
                    <a:p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question_text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resp. id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response_label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352697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A33"/>
                          </a:solidFill>
                          <a:latin typeface="Calibri"/>
                        </a:rPr>
                        <a:t>Sex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536341288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Female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A33"/>
                          </a:solidFill>
                          <a:latin typeface="Calibri"/>
                        </a:rPr>
                        <a:t>Age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352697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A33"/>
                          </a:solidFill>
                          <a:latin typeface="Calibri"/>
                        </a:rPr>
                        <a:t>Smoking Status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700000002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Former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A33"/>
                          </a:solidFill>
                          <a:latin typeface="Calibri"/>
                        </a:rPr>
                        <a:t>Education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875342283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Bachelor's Degree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352697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A33"/>
                          </a:solidFill>
                          <a:latin typeface="Calibri"/>
                        </a:rPr>
                        <a:t>Have you lost…teeth?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812107266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Yes, from accident or injury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A33"/>
                          </a:solidFill>
                          <a:latin typeface="Calibri"/>
                        </a:rPr>
                        <a:t>Have you lost…teeth?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452438775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>Yes, from tooth decay or disease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22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7D15"/>
                </a:solidFill>
                <a:latin typeface="Calibri"/>
              </a:rPr>
              <a:t>No decoder ring, no 2,360-column map — the dictionary travels with the data.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Analyzing long format (2/3) — wide is one generic PIVOT away</a:t>
            </a:r>
          </a:p>
          <a:p>
            <a:r>
              <a:rPr sz="1300" i="1">
                <a:solidFill>
                  <a:srgbClr val="BBD5D7"/>
                </a:solidFill>
              </a:rPr>
              <a:t>Pick your tool — one line, and none of them name a single column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61872"/>
            <a:ext cx="11247120" cy="2697480"/>
          </a:xfrm>
          <a:prstGeom prst="rect">
            <a:avLst/>
          </a:prstGeom>
          <a:solidFill>
            <a:srgbClr val="1E293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37160" tIns="109728"/>
          <a:lstStyle/>
          <a:p>
            <a:pPr algn="ctr">
              <a:lnSpc>
                <a:spcPct val="100000"/>
              </a:lnSpc>
            </a:pPr>
            <a:r>
              <a:rPr sz="1200">
                <a:solidFill>
                  <a:srgbClr val="8BA6C0"/>
                </a:solidFill>
                <a:latin typeface="Courier New"/>
              </a:rPr>
              <a:t>-- SQL (DuckDB) — column names come from the DATA, not from you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E6EDF3"/>
                </a:solidFill>
                <a:latin typeface="Courier New"/>
              </a:rPr>
              <a:t>PIVOT (FROM v_long SELECT connect_id, question_text, answer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E6EDF3"/>
                </a:solidFill>
                <a:latin typeface="Courier New"/>
              </a:rPr>
              <a:t>       WHERE question_type &lt;&gt; 'multi_select')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E6EDF3"/>
                </a:solidFill>
                <a:latin typeface="Courier New"/>
              </a:rPr>
              <a:t>  ON question_text USING any_value(answer);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E6EDF3"/>
                </a:solidFill>
                <a:latin typeface="Courier New"/>
              </a:rPr>
              <a:t> 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8BA6C0"/>
                </a:solidFill>
                <a:latin typeface="Courier New"/>
              </a:rPr>
              <a:t># Python (pandas)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E6EDF3"/>
                </a:solidFill>
                <a:latin typeface="Courier New"/>
              </a:rPr>
              <a:t>long.pivot(index='connect_id', columns='question_text', values='answer')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E6EDF3"/>
                </a:solidFill>
                <a:latin typeface="Courier New"/>
              </a:rPr>
              <a:t> 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8BA6C0"/>
                </a:solidFill>
                <a:latin typeface="Courier New"/>
              </a:rPr>
              <a:t># R (tidyr)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E6EDF3"/>
                </a:solidFill>
                <a:latin typeface="Courier New"/>
              </a:rPr>
              <a:t>pivot_wider(long, id_cols=connect_id, names_from=question_text, values_from=answer)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63040" y="4160520"/>
          <a:ext cx="92354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3931920"/>
                <a:gridCol w="1371600"/>
                <a:gridCol w="1645920"/>
              </a:tblGrid>
              <a:tr h="259080"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  <a:latin typeface="Calibri"/>
                        </a:rPr>
                        <a:t>connect_id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  <a:latin typeface="Calibri"/>
                        </a:rPr>
                        <a:t>Age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  <a:latin typeface="Calibri"/>
                        </a:rPr>
                        <a:t>Education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  <a:latin typeface="Calibri"/>
                        </a:rPr>
                        <a:t>Sex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  <a:latin typeface="Calibri"/>
                        </a:rPr>
                        <a:t>Smoking Status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2A33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Bachelor's Degree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Female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Former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2A33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High School Graduate or GED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Male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2A33"/>
                          </a:solidFill>
                          <a:latin typeface="Calibri"/>
                        </a:rPr>
                        <a:t>1003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Advanced Degree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Female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2A33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Bachelor's Degree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Male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2A33"/>
                          </a:solidFill>
                          <a:latin typeface="Calibri"/>
                        </a:rPr>
                        <a:t>1005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High School Graduate or GED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Female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Former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C7D15"/>
                </a:solidFill>
                <a:latin typeface="Calibri"/>
              </a:rPr>
              <a:t>Column names come from the data, not from you — add a question, get a new column. Wrap it once as get_wide(survey) and every team reuses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5A636E"/>
                </a:solidFill>
                <a:latin typeface="Calibri"/>
              </a:rPr>
              <a:t>pandas &amp; tidyr discover columns automatically; BigQuery's PIVOT lists the values (or generate them with dynamic SQL). `long` = the single-value answers.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Analyzing long format (3/3) — counts are a simple GROUP BY</a:t>
            </a:r>
          </a:p>
          <a:p>
            <a:r>
              <a:rPr sz="1300" i="1">
                <a:solidFill>
                  <a:srgbClr val="BBD5D7"/>
                </a:solidFill>
              </a:rPr>
              <a:t>And select-all gets *easier*: one group-by, no summing 0/1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5486400" cy="2194560"/>
          </a:xfrm>
          <a:prstGeom prst="rect">
            <a:avLst/>
          </a:prstGeom>
          <a:solidFill>
            <a:srgbClr val="1E293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37160" tIns="109728"/>
          <a:lstStyle/>
          <a:p>
            <a:pPr algn="ctr">
              <a:lnSpc>
                <a:spcPct val="100000"/>
              </a:lnSpc>
            </a:pPr>
            <a:r>
              <a:rPr sz="1250">
                <a:solidFill>
                  <a:srgbClr val="8BA6C0"/>
                </a:solidFill>
                <a:latin typeface="Courier New"/>
              </a:rPr>
              <a:t>-- how many selected each tooth-loss reason?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SELECT response_label, COUNT(*) AS n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FROM v_long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WHERE question_concept_id = 899251483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GROUP BY response_label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6EDF3"/>
                </a:solidFill>
                <a:latin typeface="Courier New"/>
              </a:rPr>
              <a:t>ORDER BY n DESC;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0" y="137160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11887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  <a:latin typeface="Calibri"/>
                        </a:rPr>
                        <a:t>tooth_loss_reason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2A33"/>
                          </a:solidFill>
                          <a:latin typeface="Calibri"/>
                        </a:rPr>
                        <a:t>Yes, from tooth decay or disease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2A33"/>
                          </a:solidFill>
                          <a:latin typeface="Calibri"/>
                        </a:rPr>
                        <a:t>Yes, from accident or injury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2A33"/>
                          </a:solidFill>
                          <a:latin typeface="Calibri"/>
                        </a:rPr>
                        <a:t>Yes, for some other reason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2A33"/>
                          </a:solidFill>
                          <a:latin typeface="Calibri"/>
                        </a:rPr>
                        <a:t>No, I haven't lost any teeth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A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31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A636E"/>
                </a:solidFill>
                <a:latin typeface="Calibri"/>
              </a:rPr>
              <a:t>In wide, that means summing N ever-changing 0/1 indicator columns; in long it's the same group-by you'd write for any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7D15"/>
                </a:solidFill>
                <a:latin typeface="Calibri"/>
              </a:rPr>
              <a:t>Swap the concept id and the same one-liner counts smoking, education, anything — one pattern for every question.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100">
                <a:solidFill>
                  <a:srgbClr val="222A33"/>
                </a:solidFill>
                <a:latin typeface="Calibri"/>
              </a:rPr>
              <a:t>•  The Dictionary-Direct model is accepted — stand it up (low cost, low risk, immediately useful)</a:t>
            </a:r>
          </a:p>
          <a:p>
            <a:pPr>
              <a:spcAft>
                <a:spcPts val="1800"/>
              </a:spcAft>
            </a:pPr>
            <a:r>
              <a:rPr sz="2100">
                <a:solidFill>
                  <a:srgbClr val="222A33"/>
                </a:solidFill>
                <a:latin typeface="Calibri"/>
              </a:rPr>
              <a:t>•  Adopt enhancements incrementally — prioritize governance (#7, gates external sharing) and dbt analytics marts (#8, most researcher value)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10698480" cy="1280160"/>
          </a:xfrm>
          <a:prstGeom prst="roundRect">
            <a:avLst/>
          </a:prstGeom>
          <a:solidFill>
            <a:srgbClr val="EDF1F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800" b="1">
                <a:solidFill>
                  <a:srgbClr val="16324F"/>
                </a:solidFill>
                <a:latin typeface="Calibri"/>
              </a:rPr>
              <a:t>The model is the accepted foundation.   Enhancements make it the governed, shareable product PR2 needs.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
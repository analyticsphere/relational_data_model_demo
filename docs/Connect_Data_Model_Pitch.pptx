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already believe in this idea (OMOP) — we just never applied it to our own Connect data. Two phases: a fast Phase 1 win, then the governed PR2 warehouse. See internal_pitch.md —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OMOP principle the team already accepts. See internal_pitch.md — Why a data model at all?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 pains. Punchline lands after the exhibits. See internal_pitch.md — Why — the problems we all live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colleague's flagship report — evidence, not criticism. See internal_pitch.md — This isn't hypothetical.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Recalibrated: ~35% directly generatable (value/type/length); a further ~50% skip-gated -&gt; becomes shared skip-logic data authored ONCE instead of re-coded across 3 repos (simple majority machine-generated, ~8% complex tail like percentDiff preserved as raw expression). ~15% genuinely custom. Contingent on the richer (QuickQ) skip_rule representation. Module 4 ~50% custom is the honest counter-case. See internal_pitch.md — QA/QC engine; CLAUDE.md — Skip-logic complexity &amp;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Strongest case for the concept-equivalence plane; sits beyond Phase 2's first cut — argues to pull it forward. See internal_pitch.md — geocoding.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model: CIDTool dictionary as-is + one responses fact. Same thesis carries to Phase 2. See internal_pitch.md — The idea / Phase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EASE-IN framing for a skeptical audience. The current encoding isn't wrong — it faithfully mirrors physical storage (a multi-select really is N 0/1 columns). The model's improvement is logical: an option is an answer choice, not a question, so it belongs in response_options; 'selected' becomes the presence of a row instead of a synthetic Yes/No. Same tooth-loss example as the docs (899251483; options 812107266 accident / 452438775 decay / 886864375 other / 551489317 none; Yes/No = 353358909/104430631). Quest disambiguates select-all [ ] vs single-select ( ) vs grid |grid|. Nothing is thrown away; the dictionary remains the source of truth and this view sits on top. See CLAUDE.md — Source Question is overloaded.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adds the placement bridge, sessions, version-scoped options, layers, governance. See internal_pitch.md — Phase 1 /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Phase 2 ERD. Dense by design — the SVG (docs/connect_data_model.svg) zooms cleanly. See internal_pitch.md —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Verdict: doable, nothing needs a capability Connect lacks — but it's dependencies + org/policy, not modeling. CIDTool verified 2026-06-22 as a small in-dev JS tool, not a production dimension emitter. Sequence: dims+placement+sessions first (mechanical); governance in parallel early (long pole, gates external release); concept plane/marts/OMOP deferred until pulled. BigQuery has no FK enforcement — relationships logical, enforced by transform + dbt tests. See CLAUDE.md — Phase 2 feasibility.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long-format thesis as our model, arrived at independently. The one fix: concept IDs, not strings. See CLAUDE.md — Event plane: DevOps long-format proposal; docs/devops_event_tables_memo.md.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hub (~ OMOP visit) off participants; response_sessions = DevOps 'surveys' table; collection/kit/incentive/refusal facts key on (connect_id, round); v_participant_events = SMDB unified view. See dbml/data_model_events.dbml.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Marts layer (Phase 2, downstream of Core via dbt). Pitch = highest-value case of the OMOP 'write analytics once' thesis: derived variables defined once, canonically, with lineage — vs. re-coded per study (the 3 pain repos). dbt features map to our principles: dbt docs DAG = lineage to source (#12); SQL is the definition (no black box, #12); source()/ref()+access enforce Core→Analytic→Marts (#8); tests move much of the 7,025-rule QC into CI; sensitivity_tier flows via meta, enforced in IAM (#11); model versions/exposures = a derived-variable catalog. Recommend one mart PER construct (grouped), not a wide mega-table. Grain: participant, or participant×wave for longitudinal. Examples map to established cancer-prevention exposure domains (WCRF/AICR). See CLAUDE.md — Derived variables, lineage &amp; dbt / Mart catalog.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SQL for each row is in internal_pitch.md — Value proposition (Q1–Q5).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approve Phase 1 now; commit Phase 2 (esp. governance); consider pulling the concept-equivalence plane forward (geocoding). See internal_pitch.md —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73152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Connect Relational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D5D7"/>
                </a:solidFill>
                <a:latin typeface="Calibri"/>
              </a:rPr>
              <a:t>Why a data model — and a two-phase path to the PR2 research warehouse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A9DA3"/>
                </a:solidFill>
                <a:latin typeface="Calibri"/>
              </a:rPr>
              <a:t>Team walk-through  ·  detailed notes in internal_pitch.md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Why a data model at all?</a:t>
            </a:r>
          </a:p>
          <a:p>
            <a:r>
              <a:rPr sz="1300" i="1">
                <a:solidFill>
                  <a:srgbClr val="BBD5D7"/>
                </a:solidFill>
              </a:rPr>
              <a:t>The power isn't the table layout — it's relationships defined as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8B8B"/>
                </a:solidFill>
                <a:latin typeface="Calibri"/>
              </a:rPr>
              <a:t>Defined relationships between concepts &amp; domains → analytics written once, reused across teams. That is exactly why we adopted OMOP.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6692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What OMOP defines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The same idea in our model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concept — analyze standard concepts, not source codes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concept-ID spine — query concepts, not d_ columns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concept_relationship / concept_ancestor — link &amp; roll up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concept_relationship / question_equivalence (planned)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long event tables + _source_concept_id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long responses fact + retained source columns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standard model → tools reused across 200 sites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stable contract → shared views/tools across teams + PR2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36E"/>
                </a:solidFill>
                <a:latin typeface="Calibri"/>
              </a:rPr>
              <a:t>One source, not many — no cross-site network effect; reuse comes from the relationships, across our teams &amp; researchers. OMOP becomes a downstream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The problem: we analyze raw source data</a:t>
            </a:r>
          </a:p>
          <a:p>
            <a:r>
              <a:rPr sz="1300" i="1">
                <a:solidFill>
                  <a:srgbClr val="BBD5D7"/>
                </a:solidFill>
              </a:rPr>
              <a:t>Our analysis-ready data is wide tables of opaque concept-ID columns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22A33"/>
                </a:solidFill>
                <a:latin typeface="Calibri"/>
              </a:rPr>
              <a:t>•  Dancing schema — every new answer/option/loop adds columns; pipelines break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A33"/>
                </a:solidFill>
                <a:latin typeface="Calibri"/>
              </a:rPr>
              <a:t>•  Not generically queryable — every analysis hardcodes column names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A33"/>
                </a:solidFill>
                <a:latin typeface="Calibri"/>
              </a:rPr>
              <a:t>•  Version drift — v1/v2 columns reconciled by hand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A33"/>
                </a:solidFill>
                <a:latin typeface="Calibri"/>
              </a:rPr>
              <a:t>•  Ambiguous missingness — blank = not selected? not shown? not taken?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A33"/>
                </a:solidFill>
                <a:latin typeface="Calibri"/>
              </a:rPr>
              <a:t>•  No built-in governance — PHI/PII is a manual, unenforced allow-list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7D15"/>
                </a:solidFill>
                <a:latin typeface="Calibri"/>
              </a:rPr>
              <a:t>In OMOP terms, these wide tables are source data — and we're analyzing them raw.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Exhibit 1 — our own Module 1 report</a:t>
            </a:r>
          </a:p>
          <a:p>
            <a:r>
              <a:rPr sz="1300" i="1">
                <a:solidFill>
                  <a:srgbClr val="BBD5D7"/>
                </a:solidFill>
              </a:rPr>
              <a:t>"Merged Module 1 Summary Statistics" · 6,234 lines · scheduled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B8B"/>
                </a:solidFill>
                <a:latin typeface="Calibri"/>
              </a:rPr>
              <a:t>~650 lines rebuild the model by hand before the first statistic: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Hand-rolled v1/v2 merge — re-runs every refresh, column-name dependent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150-entry label dictionary typed by hand — with duplicate-key bugs &amp; typos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Skip logic &amp; loops reimplemented as bespoke functions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Every missing value → "Skipped this Question" — 3 cases conflated (counts inflated)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636E"/>
                </a:solidFill>
                <a:latin typeface="Calibri"/>
              </a:rPr>
              <a:t>→ The model does the merge once (GROUP BY concept), generates labels, and makes skip/loops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Exhibit 2 — the QA/QC engine</a:t>
            </a:r>
          </a:p>
          <a:p>
            <a:r>
              <a:rPr sz="1300" i="1">
                <a:solidFill>
                  <a:srgbClr val="BBD5D7"/>
                </a:solidFill>
              </a:rPr>
              <a:t>1,271-line engine + 14 Excel workbooks = 7,025 hand-written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017520"/>
                <a:gridCol w="3840480"/>
              </a:tblGrid>
              <a:tr h="483325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The rule checks…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# (all 14 workbooks)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Already in the model as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Cross-variable condition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3,454  (49%)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skip_logic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Numeric / date / time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883  (13%)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variable_metadata.variable_type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String length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792  (11%)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variable_metadata.variable_length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Answer ∈ valid option set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773  (11%)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response_options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Populated / required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65  (1%)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skip_logic / is_required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Genuinely custom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1,058  (15%)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— needs authoring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7D15"/>
                </a:solidFill>
                <a:latin typeface="Calibri"/>
              </a:rPr>
              <a:t>Most re-state metadata the model centralizes; complex cross-variable logic is authored once — not re-coded in 3 places.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4476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36E"/>
                </a:solidFill>
                <a:latin typeface="Calibri"/>
              </a:rPr>
              <a:t>Honest limits: ~35% are pure value/type/length checks; the skip-gated rest needs the richer skip-logic model (~8% complex tail authored once). Module 4 ≈ 50% custom.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Exhibit 3 — geocoding &amp; unharmonized concept IDs</a:t>
            </a:r>
          </a:p>
          <a:p>
            <a:r>
              <a:rPr sz="1300" i="1">
                <a:solidFill>
                  <a:srgbClr val="BBD5D7"/>
                </a:solidFill>
              </a:rPr>
              <a:t>Same field, no relationship linking its variants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900">
                <a:solidFill>
                  <a:srgbClr val="222A33"/>
                </a:solidFill>
                <a:latin typeface="Calibri"/>
              </a:rPr>
              <a:t>•  "Street name of a residence" = ~27 unrelated concept IDs (home ×11, seasonal ×10, work, school, childhood…)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222A33"/>
                </a:solidFill>
                <a:latin typeface="Calibri"/>
              </a:rPr>
              <a:t>•  Three separate codebases each rebuild the same address crosswalk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222A33"/>
                </a:solidFill>
                <a:latin typeface="Calibri"/>
              </a:rPr>
              <a:t>•  One even string-matches question labels as join keys (fragile — labels drift)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222A33"/>
                </a:solidFill>
                <a:latin typeface="Calibri"/>
              </a:rPr>
              <a:t>•  No "address" or "street_name" concept generalizes → nothing reusable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7D15"/>
                </a:solidFill>
                <a:latin typeface="Calibri"/>
              </a:rPr>
              <a:t>Fix: concept_relationship / question_equivalence — author "these are the same field" once, as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The idea — answers become rows</a:t>
            </a:r>
          </a:p>
          <a:p>
            <a:r>
              <a:rPr sz="1300" i="1">
                <a:solidFill>
                  <a:srgbClr val="BBD5D7"/>
                </a:solidFill>
              </a:rPr>
              <a:t>Phase 1: the dictionary as-is + one long responses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a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38" y="1325880"/>
            <a:ext cx="11532419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A636E"/>
                </a:solidFill>
                <a:latin typeface="Calibri"/>
              </a:rPr>
              <a:t>New answers / options / loops are rows, never new columns. Full Phase 1 ERD (Dictionary-Direct).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 closer look: select-all questions</a:t>
            </a:r>
          </a:p>
          <a:p>
            <a:r>
              <a:rPr sz="1300" i="1">
                <a:solidFill>
                  <a:srgbClr val="BBD5D7"/>
                </a:solidFill>
              </a:rPr>
              <a:t>Same data, a clearer shape — the dictionary stays the source of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B8B"/>
                </a:solidFill>
                <a:latin typeface="Calibri"/>
              </a:rPr>
              <a:t>Today's encoding faithfully mirrors how the data is stored. The model just adds a logical view on top — nothing is lost, the dictionary is unchanged.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383280"/>
                <a:gridCol w="33832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Example: "Have you lost any permanent teeth?"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Dictionary today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Model — logical view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222A33"/>
                          </a:solidFill>
                          <a:latin typeface="Calibri"/>
                        </a:rPr>
                        <a:t>The question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222A33"/>
                          </a:solidFill>
                          <a:latin typeface="Calibri"/>
                        </a:rPr>
                        <a:t>shifted into "Source Question"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222A33"/>
                          </a:solidFill>
                          <a:latin typeface="Calibri"/>
                        </a:rPr>
                        <a:t>one question (multi_select)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222A33"/>
                          </a:solidFill>
                          <a:latin typeface="Calibri"/>
                        </a:rPr>
                        <a:t>Each option (e.g. "from accident")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222A33"/>
                          </a:solidFill>
                          <a:latin typeface="Calibri"/>
                        </a:rPr>
                        <a:t>promoted to its own "Question"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222A33"/>
                          </a:solidFill>
                          <a:latin typeface="Calibri"/>
                        </a:rPr>
                        <a:t>a response option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222A33"/>
                          </a:solidFill>
                          <a:latin typeface="Calibri"/>
                        </a:rPr>
                        <a:t>The answer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222A33"/>
                          </a:solidFill>
                          <a:latin typeface="Calibri"/>
                        </a:rPr>
                        <a:t>a synthetic Yes/No per option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222A33"/>
                          </a:solidFill>
                          <a:latin typeface="Calibri"/>
                        </a:rPr>
                        <a:t>one row per option actually selected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222A33"/>
                          </a:solidFill>
                          <a:latin typeface="Calibri"/>
                        </a:rPr>
                        <a:t>Add an option next year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222A33"/>
                          </a:solidFill>
                          <a:latin typeface="Calibri"/>
                        </a:rPr>
                        <a:t>a new column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222A33"/>
                          </a:solidFill>
                          <a:latin typeface="Calibri"/>
                        </a:rPr>
                        <a:t>a new row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636E"/>
                </a:solidFill>
                <a:latin typeface="Calibri"/>
              </a:rPr>
              <a:t>Phased &amp; low-risk: the dictionary tables are untouched; this is a view we layer on — adopt it where it helps, keep everything else as-is.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 two-phase path</a:t>
            </a:r>
          </a:p>
          <a:p>
            <a:r>
              <a:rPr sz="1300" i="1">
                <a:solidFill>
                  <a:srgbClr val="BBD5D7"/>
                </a:solidFill>
              </a:rPr>
              <a:t>Phase 1 proves it cheaply · Phase 2 builds the governed warehouse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754880"/>
                <a:gridCol w="475488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Phase 1 — Dictionary-Direct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Phase 2 — PR2 warehouse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dictionary as-is + 1 responses table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cleaned dims, placement bridge, sessions, governance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Buys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stable schema, generic SQL, labels, v1/v2 pool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true missingness, governed access, marts, view library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low — reuses CleanConnect + dictionary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larger, phased — builds on Phase 1's fact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Release-ready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internal / analyst only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yes — external PR2 sharing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636E"/>
                </a:solidFill>
                <a:latin typeface="Calibri"/>
              </a:rPr>
              <a:t>Same responses fact both phases — Phase 1 is a down payment, not throwaway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Phase 2 — the full model</a:t>
            </a:r>
          </a:p>
          <a:p>
            <a:r>
              <a:rPr sz="1300" i="1">
                <a:solidFill>
                  <a:srgbClr val="BBD5D7"/>
                </a:solidFill>
              </a:rPr>
              <a:t>The researcher-facing, governed warehouse for PR2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b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929" y="1280160"/>
            <a:ext cx="8111836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Placement bridge · sessions · version-scoped options · governance · Core→Analytic→Marts.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Is Phase 2 doable today?</a:t>
            </a:r>
          </a:p>
          <a:p>
            <a:r>
              <a:rPr sz="1300" i="1">
                <a:solidFill>
                  <a:srgbClr val="BBD5D7"/>
                </a:solidFill>
              </a:rPr>
              <a:t>Yes — technically achievable on our existing artifacts. The risks are dependencies, not the schema.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B8B"/>
                </a:solidFill>
                <a:latin typeface="Calibri"/>
              </a:rPr>
              <a:t>De-risked already: builds on Phase 1's same fact · CleanConnect did the cleaning · sessions derivable · hardest structures need no new tables.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1106424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572000"/>
                <a:gridCol w="4023360"/>
              </a:tblGrid>
              <a:tr h="539496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Honest risk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How we de-risk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CIDTool maturity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dimensions come from it; it's still an in-dev tool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audit its output now / be ready to build the transform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Quest parser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skip logic, order, loops — no parser exists yet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prototype on module 1 first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IRB / date-shift / suppression / IAM — org, not just 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start as a parallel workstream early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Cross-team timing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couples to PR2 + CleanConnect + DevOps events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sequence around them; keep Phase 1 independent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7D15"/>
                </a:solidFill>
                <a:latin typeface="Calibri"/>
              </a:rPr>
              <a:t>So Phase 2 is a funded, multi-quarter, multi-stakeholder program — not a single sprint. Which is exactly why we start with Phase 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New: events are going long-format too</a:t>
            </a:r>
          </a:p>
          <a:p>
            <a:r>
              <a:rPr sz="1300" i="1">
                <a:solidFill>
                  <a:srgbClr val="BBD5D7"/>
                </a:solidFill>
              </a:rPr>
              <a:t>DevOps is moving follow-ups from nested columns to per-type event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Per-type long tables: activities · collections · kits · surveys · incentives · refusals (+ collectionDetails)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Shared key on every table: (Connect ID, Round) — Round + activity type = the encounter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collectionDetails: ~120 nested fields → 14 columns; a new round/specimen = zero schema change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222A33"/>
                </a:solidFill>
                <a:latin typeface="Calibri"/>
              </a:rPr>
              <a:t>•  Risk: human-readable names &amp; values dropped the concept IDs → won't link to Primary/Secondary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7D15"/>
                </a:solidFill>
                <a:latin typeface="Calibri"/>
              </a:rPr>
              <a:t>Keep the long format — re-attach a concept_id to every column &amp; value (one vocab, one ID: Mouthwash = MW = Home Mouthwash).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Draft: the reconciled event plane</a:t>
            </a:r>
          </a:p>
          <a:p>
            <a:r>
              <a:rPr sz="1300" i="1">
                <a:solidFill>
                  <a:srgbClr val="BBD5D7"/>
                </a:solidFill>
              </a:rPr>
              <a:t>Round = the encounter; surveys &amp; events share it; concept-typed columns keep dictionary links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ent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526" y="1280160"/>
            <a:ext cx="5778643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A636E"/>
                </a:solidFill>
                <a:latin typeface="Calibri"/>
              </a:rPr>
              <a:t>Separate per-type event facts + a unified view (the SMDB summary). DRAFT — pending DevOps confirmation of Round-as-encounter.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Curated derived variables (dbt marts)</a:t>
            </a:r>
          </a:p>
          <a:p>
            <a:r>
              <a:rPr sz="1300" i="1">
                <a:solidFill>
                  <a:srgbClr val="BBD5D7"/>
                </a:solidFill>
              </a:rPr>
              <a:t>Define each research variable once — tested, governed, lineage to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B8B"/>
                </a:solidFill>
                <a:latin typeface="Calibri"/>
              </a:rPr>
              <a:t>The payoff of "write analytics once": a canonical pack-years / BMI / risk score every researcher reuses — not re-derived per study.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120640"/>
                <a:gridCol w="3840480"/>
              </a:tblGrid>
              <a:tr h="42672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Example marts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Canonical derived variable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Behavioral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smoking · alcohol · physical_activity · diet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pack-years · MET-hours/week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Anthropometric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anthropometry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BMI (height + weight)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Host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reproductive_history · family_history · genetic_risk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parity · hereditary-risk flag · polygenic risk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Clinical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medical_history · medications · screening_history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comorbidity index · regular aspirin use · up-to-date-with-screening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Environmental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environmental_exposures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Area Deprivation Index (from geocoded address)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7D15"/>
                </a:solidFill>
                <a:latin typeface="Calibri"/>
              </a:rPr>
              <a:t>Why dbt: model-level lineage to source · tests = contracts in CI · one-directional layer boundary · sensitivity tiers flow to marts (enforced in IAM).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36E"/>
                </a:solidFill>
                <a:latin typeface="Calibri"/>
              </a:rPr>
              <a:t>Honest: derivation is real epi work (owner + sign-off per variable); marts are curated, not the only access — raw responses stay reachable.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Same queries, three ways</a:t>
            </a:r>
          </a:p>
          <a:p>
            <a:r>
              <a:rPr sz="1300" i="1">
                <a:solidFill>
                  <a:srgbClr val="BBD5D7"/>
                </a:solidFill>
              </a:rPr>
              <a:t>From painful/impossible → routine → trivial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  <a:gridCol w="27432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Standard query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Wide (today)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Multi-select distribution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unpivot + v1/v2 COALESCE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filtered group-by; versions pool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plain group-by / view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Labeled distribution, any question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bespoke CASE, no reuse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parameterized by concept_id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precomputed aggregate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Completion &amp; true missingness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ambiguous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still ambiguous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sessions + skip logic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Non-PHI extract (governance)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manual allow-list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manual allow-list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sensitivity tier + IAM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A33"/>
                          </a:solidFill>
                          <a:latin typeface="Calibri"/>
                        </a:rPr>
                        <a:t>Harmonized field across surveys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rebuild crosswalk (3 repos)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pool a reused concept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equivalence plane (planned)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636E"/>
                </a:solidFill>
                <a:latin typeface="Calibri"/>
              </a:rPr>
              <a:t>Phase 1 fixes the loud, everyday pains; Phase 2 unlocks missingness, governance &amp; harmonization.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100">
                <a:solidFill>
                  <a:srgbClr val="222A33"/>
                </a:solidFill>
                <a:latin typeface="Calibri"/>
              </a:rPr>
              <a:t>•  Approve Phase 1 now — low cost, low risk, immediately useful; its responses fact carries into Phase 2 unchanged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222A33"/>
                </a:solidFill>
                <a:latin typeface="Calibri"/>
              </a:rPr>
              <a:t>•  Commit to Phase 2 — governance + lineage; non-negotiable for sharing data externally through PR2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10698480" cy="1280160"/>
          </a:xfrm>
          <a:prstGeom prst="roundRect">
            <a:avLst/>
          </a:prstGeom>
          <a:solidFill>
            <a:srgbClr val="EDF1F5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1">
                <a:solidFill>
                  <a:srgbClr val="16324F"/>
                </a:solidFill>
                <a:latin typeface="Calibri"/>
              </a:rPr>
              <a:t>Phase 1 = an internal quick win that proves the model.   Phase 2 = the governed, shareable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
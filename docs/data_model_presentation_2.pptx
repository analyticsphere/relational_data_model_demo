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4" r:id="rId3"/>
    <p:sldId id="257" r:id="rId4"/>
    <p:sldId id="282" r:id="rId5"/>
    <p:sldId id="279" r:id="rId6"/>
    <p:sldId id="280" r:id="rId7"/>
    <p:sldId id="281" r:id="rId8"/>
    <p:sldId id="273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7"/>
    <p:restoredTop sz="94444"/>
  </p:normalViewPr>
  <p:slideViewPr>
    <p:cSldViewPr snapToGrid="0">
      <p:cViewPr>
        <p:scale>
          <a:sx n="95" d="100"/>
          <a:sy n="95" d="100"/>
        </p:scale>
        <p:origin x="36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72C45-1D8F-3446-B66F-24EB25B1C96D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3416F-680D-D547-A4A5-F55A2CAA3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85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five pains. Punchline lands after the exhibits. See internal_pitch.md — Why — the problems we all live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B0C77-E71E-63E7-37AD-32EF34C8E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BC22B-B694-BC2D-C2D6-E3D95599F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8AD94-D2B3-429C-B868-5378841A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07148-ACE1-9A11-5C49-82AF16A2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35B61-DD8E-1EF6-EF45-68E90C2C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2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082A-7B92-46AE-33EB-2EAAAD74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155FD-2D80-57B2-FF9F-D30F8A22A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E4A92-12F0-14F2-9DC7-34224FC9D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72214-488F-B2D2-8AA3-F6E91A820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8797C-D893-B6D9-497E-BEBB1081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7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95AA-8255-30F3-9637-9E05F0EE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42942-34AD-657D-6B24-9798E59E3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A8092-D2E1-AC3C-55AC-14EF2205A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9C965-BDAE-8B79-8072-A5916A61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817D8-952B-CEE1-751F-A9262444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2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6AC5F-7178-9EE5-9FF7-1AB27CF4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62D1-7D33-4838-4612-8616877FD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09664-63CB-A96D-F02C-EF1D1A765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F669C-6AE9-AFE2-A055-D70846A0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6BABD-3F5C-F073-BC12-2A63C982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4B224-E9E9-3984-55CC-51A2C3A5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5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6B08-6EEE-5118-C4CE-33EDAEF8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BECD1-3C81-BBD7-E84D-887018FEC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A9558-E746-07EE-31AE-23CEAED93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794EB-4102-E479-D8E0-23BCE378E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41140-DA3F-38EC-DC29-3CBF40DC2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FBEBC-CAF6-A6F6-D88E-E84F3EA2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7A2388-425B-AEB4-D8A4-9F3D6C9C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589ACF-0F07-10EF-8106-32550D05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08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E7F0-BEFF-AB80-218D-7E883504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A19A5-9698-B659-05F7-F2EC9EDE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0014A-EADC-22A0-7A71-E84C7199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E5226-C162-4F97-7B38-006A10F5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9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458FE-1B49-A211-55CC-405F55C2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245BD-467C-6E4F-0A79-004A1517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DF3FE-FA98-F185-6DB9-9ADC1764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1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C18E-A88D-53F1-2D3E-E7DB73DF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A0EB-0692-10CB-3E6F-FAAF9F60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4AC22-F32C-6C80-B39B-0412AFB58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7D636-1695-CC94-58C7-494404F6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4EFFB-6A18-9E97-AAAB-A2B96F1C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0B02C-6FFD-876E-100A-7E96BA2F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8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8EC35-A433-9D9E-DC3F-273E20A6D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5AC14-F4A8-4F12-8264-BFF5A5762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37F4A-ACC9-2DC4-6FE0-5DB5A3131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B87D5-8F9D-0A60-483F-250A7CFA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3DEE2-7C1E-1A84-6A2F-E7F5FEBD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5A69A-CA21-DC83-DF5C-009AFF20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3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83C9-E993-9254-F70A-90B207BE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5FBA9-4956-0BD4-9BDC-FB920A561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AB9EE-5A72-F6AD-404E-3A544B57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52925-C07A-7979-E8B7-FD8EF1C14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03FF7-4746-C185-40C3-A2DF81A9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3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57A384-5F06-1933-FA04-D570E86C1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207ED-DA47-D278-3A24-12B9A6F4E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8732B-0E80-C815-EC83-8C3C2EE96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18DBA-60CC-AD3C-F40D-B30DDD4E6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41832-2D47-BF18-4AEF-026F5BD9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A2697-6D38-BC93-395D-C15884768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ABC7B-117B-36CA-506A-2E06ED1C1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E3045-932D-7AF4-2D46-E181D77B0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0C595-E0B6-EA4D-8985-E7D84F04D8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71AE8-6C49-8D17-559E-3B2220ED3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3399A-B247-6DD3-6AA5-217DCAEB5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C066D-1845-AF43-9FD1-B143473F8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96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27CE-B63F-BF52-61CF-FCB8322F4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Why we need a data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D02E9-5D9F-25EE-7C86-1521783544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00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198000"/>
            <a:ext cx="10789920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A33"/>
                </a:solidFill>
                <a:latin typeface="Calibri"/>
              </a:rPr>
              <a:t>Not self-describing 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- </a:t>
            </a:r>
            <a:r>
              <a:rPr lang="en-US" dirty="0" err="1">
                <a:solidFill>
                  <a:srgbClr val="222A33"/>
                </a:solidFill>
                <a:latin typeface="Calibri"/>
              </a:rPr>
              <a:t>concept_ids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 in column names and values without crosswalk in dataset makes </a:t>
            </a:r>
            <a:r>
              <a:rPr lang="en-US" sz="1600" dirty="0">
                <a:solidFill>
                  <a:srgbClr val="222A33"/>
                </a:solidFill>
                <a:latin typeface="Calibri"/>
              </a:rPr>
              <a:t>it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 difficult to explore and reason about</a:t>
            </a:r>
          </a:p>
          <a:p>
            <a:pPr marL="800100" lvl="1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A33"/>
                </a:solidFill>
                <a:latin typeface="Calibri"/>
              </a:rPr>
              <a:t>Dictionary is a side car document referenced separately, not a first-class feature of the data model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A33"/>
                </a:solidFill>
                <a:latin typeface="Calibri"/>
              </a:rPr>
              <a:t>Ever-changing</a:t>
            </a:r>
            <a:r>
              <a:rPr b="1" dirty="0">
                <a:solidFill>
                  <a:srgbClr val="222A33"/>
                </a:solidFill>
                <a:latin typeface="Calibri"/>
              </a:rPr>
              <a:t> schema</a:t>
            </a:r>
            <a:r>
              <a:rPr dirty="0">
                <a:solidFill>
                  <a:srgbClr val="222A33"/>
                </a:solidFill>
                <a:latin typeface="Calibri"/>
              </a:rPr>
              <a:t> 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-</a:t>
            </a:r>
            <a:r>
              <a:rPr dirty="0">
                <a:solidFill>
                  <a:srgbClr val="222A33"/>
                </a:solidFill>
                <a:latin typeface="Calibri"/>
              </a:rPr>
              <a:t> every new answer/option/loop adds columns; pipelines break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 or need to be explicitly extended to include additional columns (think loop questions, novel SETA responses).</a:t>
            </a:r>
          </a:p>
          <a:p>
            <a:pPr marL="800100" lvl="1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A33"/>
                </a:solidFill>
                <a:latin typeface="Calibri"/>
              </a:rPr>
              <a:t>Code against PR2 would potentially be obsolete as soon as new data are released</a:t>
            </a:r>
            <a:endParaRPr dirty="0">
              <a:solidFill>
                <a:srgbClr val="222A33"/>
              </a:solidFill>
              <a:latin typeface="Calibri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222A33"/>
                </a:solidFill>
                <a:latin typeface="Calibri"/>
              </a:rPr>
              <a:t>Not generically </a:t>
            </a:r>
            <a:r>
              <a:rPr lang="en-US" b="1" dirty="0">
                <a:solidFill>
                  <a:srgbClr val="222A33"/>
                </a:solidFill>
                <a:latin typeface="Calibri"/>
              </a:rPr>
              <a:t>"</a:t>
            </a:r>
            <a:r>
              <a:rPr b="1" dirty="0" err="1">
                <a:solidFill>
                  <a:srgbClr val="222A33"/>
                </a:solidFill>
                <a:latin typeface="Calibri"/>
              </a:rPr>
              <a:t>queryable</a:t>
            </a:r>
            <a:r>
              <a:rPr lang="en-US" b="1" dirty="0">
                <a:solidFill>
                  <a:srgbClr val="222A33"/>
                </a:solidFill>
                <a:latin typeface="Calibri"/>
              </a:rPr>
              <a:t>"</a:t>
            </a:r>
            <a:r>
              <a:rPr b="1" dirty="0">
                <a:solidFill>
                  <a:srgbClr val="222A33"/>
                </a:solidFill>
                <a:latin typeface="Calibri"/>
              </a:rPr>
              <a:t> 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-</a:t>
            </a:r>
            <a:r>
              <a:rPr dirty="0">
                <a:solidFill>
                  <a:srgbClr val="222A33"/>
                </a:solidFill>
                <a:latin typeface="Calibri"/>
              </a:rPr>
              <a:t> every analysis hardcodes column names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 and relabels them</a:t>
            </a:r>
            <a:endParaRPr dirty="0">
              <a:solidFill>
                <a:srgbClr val="222A33"/>
              </a:solidFill>
              <a:latin typeface="Calibri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222A33"/>
                </a:solidFill>
                <a:latin typeface="Calibri"/>
              </a:rPr>
              <a:t>Version drift 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-</a:t>
            </a:r>
            <a:r>
              <a:rPr dirty="0">
                <a:solidFill>
                  <a:srgbClr val="222A33"/>
                </a:solidFill>
                <a:latin typeface="Calibri"/>
              </a:rPr>
              <a:t> v1/v2 columns reconciled by hand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222A33"/>
                </a:solidFill>
                <a:latin typeface="Calibri"/>
              </a:rPr>
              <a:t>Ambiguous missingness 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-</a:t>
            </a:r>
            <a:r>
              <a:rPr dirty="0">
                <a:solidFill>
                  <a:srgbClr val="222A33"/>
                </a:solidFill>
                <a:latin typeface="Calibri"/>
              </a:rPr>
              <a:t> blank = not selected? not shown? not taken?</a:t>
            </a:r>
            <a:endParaRPr lang="en-US" dirty="0">
              <a:solidFill>
                <a:srgbClr val="222A33"/>
              </a:solidFill>
              <a:latin typeface="Calibri"/>
            </a:endParaRPr>
          </a:p>
          <a:p>
            <a:pPr marL="800100" lvl="1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A33"/>
                </a:solidFill>
                <a:latin typeface="Calibri"/>
              </a:rPr>
              <a:t>Current approach is to manually reference </a:t>
            </a:r>
            <a:r>
              <a:rPr lang="en-US" sz="1400" dirty="0" err="1">
                <a:solidFill>
                  <a:srgbClr val="222A33"/>
                </a:solidFill>
                <a:latin typeface="Calibri"/>
              </a:rPr>
              <a:t>questionairres</a:t>
            </a:r>
            <a:r>
              <a:rPr lang="en-US" sz="1400" dirty="0">
                <a:solidFill>
                  <a:srgbClr val="222A33"/>
                </a:solidFill>
                <a:latin typeface="Calibri"/>
              </a:rPr>
              <a:t> and encode in R? Is that right, Kelsey?</a:t>
            </a:r>
          </a:p>
          <a:p>
            <a:pPr marL="800100" lvl="1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22A33"/>
                </a:solidFill>
                <a:latin typeface="Calibri"/>
              </a:rPr>
              <a:t>What if this was native to the data model? One query pattern or function per skip pattern. Implemented once.</a:t>
            </a:r>
            <a:endParaRPr sz="1400" dirty="0">
              <a:solidFill>
                <a:srgbClr val="222A33"/>
              </a:solidFill>
              <a:latin typeface="Calibri"/>
            </a:endParaRP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A33"/>
                </a:solidFill>
                <a:latin typeface="Calibri"/>
              </a:rPr>
              <a:t>Governance is complicated </a:t>
            </a:r>
            <a:r>
              <a:rPr lang="en-US" dirty="0">
                <a:solidFill>
                  <a:srgbClr val="222A33"/>
                </a:solidFill>
                <a:latin typeface="Calibri"/>
              </a:rPr>
              <a:t>- requires manual allow list</a:t>
            </a:r>
            <a:endParaRPr dirty="0">
              <a:solidFill>
                <a:srgbClr val="222A33"/>
              </a:solidFill>
              <a:latin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05E80C-A538-D35A-266C-C9AA86470B3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Calibri"/>
              </a:rPr>
              <a:t>Challenges of the wide, </a:t>
            </a:r>
            <a:r>
              <a:rPr lang="en-US" sz="3200" b="1" dirty="0" err="1">
                <a:latin typeface="Calibri"/>
              </a:rPr>
              <a:t>concept_id</a:t>
            </a:r>
            <a:r>
              <a:rPr lang="en-US" sz="3200" b="1" dirty="0">
                <a:latin typeface="Calibri"/>
              </a:rPr>
              <a:t> column headers model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ADAD5E-E5A2-FD8B-653F-C9F7FC91B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351" y="42023"/>
            <a:ext cx="8950247" cy="677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34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43A7-1BED-8C80-6E20-F73500AB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EB5285-3513-DEF7-795F-05B0F761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526" y="89587"/>
            <a:ext cx="5103357" cy="667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9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50D5-EAC9-1C8D-B697-2DC29221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alibri"/>
              </a:rPr>
              <a:t>Analyzing long format (1/3): Labels are one join away</a:t>
            </a:r>
            <a:br>
              <a:rPr lang="en-US" b="1" dirty="0">
                <a:latin typeface="Calibri"/>
              </a:rPr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120D4-1A01-AAC6-64A5-13128EFD8818}"/>
              </a:ext>
            </a:extLst>
          </p:cNvPr>
          <p:cNvSpPr txBox="1"/>
          <p:nvPr/>
        </p:nvSpPr>
        <p:spPr>
          <a:xfrm>
            <a:off x="838199" y="1210213"/>
            <a:ext cx="7236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Every row says what it means: concept id + human label, side by side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5A3090-AB0E-772E-59CE-F48E18028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165632"/>
              </p:ext>
            </p:extLst>
          </p:nvPr>
        </p:nvGraphicFramePr>
        <p:xfrm>
          <a:off x="5598940" y="2365101"/>
          <a:ext cx="6161651" cy="3282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8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question_text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resp. id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response_label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8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536341288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8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 dirty="0"/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/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82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22A33"/>
                          </a:solidFill>
                          <a:latin typeface="Calibri"/>
                        </a:rPr>
                        <a:t>Smoking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700000002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Former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82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22A33"/>
                          </a:solidFill>
                          <a:latin typeface="Calibri"/>
                        </a:rPr>
                        <a:t>Education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875342283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Bachelor's Degree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/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8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Have you lost…teeth?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812107266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Yes, from accident or injury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Have you lost…teeth?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452438775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Yes, from tooth decay or disease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endParaRPr sz="2800" dirty="0"/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709BA4D-E2A3-4630-D466-1A1C21DEE9C8}"/>
              </a:ext>
            </a:extLst>
          </p:cNvPr>
          <p:cNvSpPr/>
          <p:nvPr/>
        </p:nvSpPr>
        <p:spPr>
          <a:xfrm>
            <a:off x="140677" y="2365101"/>
            <a:ext cx="4881489" cy="2825877"/>
          </a:xfrm>
          <a:prstGeom prst="rect">
            <a:avLst/>
          </a:prstGeom>
          <a:solidFill>
            <a:srgbClr val="1E2935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rtlCol="0" anchor="t"/>
          <a:lstStyle/>
          <a:p>
            <a:pPr>
              <a:lnSpc>
                <a:spcPct val="100000"/>
              </a:lnSpc>
            </a:pPr>
            <a:r>
              <a:rPr sz="1250" dirty="0">
                <a:solidFill>
                  <a:srgbClr val="8BA6C0"/>
                </a:solidFill>
                <a:latin typeface="Courier New"/>
              </a:rPr>
              <a:t>-- one join attaches a label to every answer</a:t>
            </a:r>
            <a:endParaRPr lang="en-US" sz="1250" dirty="0">
              <a:solidFill>
                <a:srgbClr val="8BA6C0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endParaRPr sz="1250" dirty="0">
              <a:solidFill>
                <a:srgbClr val="8BA6C0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sz="1250" dirty="0">
                <a:solidFill>
                  <a:srgbClr val="E6EDF3"/>
                </a:solidFill>
                <a:latin typeface="Courier New"/>
              </a:rPr>
              <a:t>SELECT </a:t>
            </a:r>
            <a:endParaRPr lang="en-US" sz="125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250" dirty="0">
                <a:solidFill>
                  <a:srgbClr val="E6EDF3"/>
                </a:solidFill>
                <a:latin typeface="Courier New"/>
              </a:rPr>
              <a:t>  </a:t>
            </a:r>
            <a:r>
              <a:rPr sz="1250" dirty="0">
                <a:solidFill>
                  <a:srgbClr val="E6EDF3"/>
                </a:solidFill>
                <a:latin typeface="Courier New"/>
              </a:rPr>
              <a:t>connect_id, </a:t>
            </a:r>
            <a:endParaRPr lang="en-US" sz="125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250" dirty="0">
                <a:solidFill>
                  <a:srgbClr val="E6EDF3"/>
                </a:solidFill>
                <a:latin typeface="Courier New"/>
              </a:rPr>
              <a:t>  </a:t>
            </a:r>
            <a:r>
              <a:rPr sz="1250" dirty="0">
                <a:solidFill>
                  <a:srgbClr val="E6EDF3"/>
                </a:solidFill>
                <a:latin typeface="Courier New"/>
              </a:rPr>
              <a:t>question_text,</a:t>
            </a:r>
          </a:p>
          <a:p>
            <a:pPr>
              <a:lnSpc>
                <a:spcPct val="100000"/>
              </a:lnSpc>
            </a:pPr>
            <a:r>
              <a:rPr sz="1250" dirty="0">
                <a:solidFill>
                  <a:srgbClr val="E6EDF3"/>
                </a:solidFill>
                <a:latin typeface="Courier New"/>
              </a:rPr>
              <a:t>  response_concept_id, </a:t>
            </a:r>
            <a:endParaRPr lang="en-US" sz="125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250" dirty="0">
                <a:solidFill>
                  <a:srgbClr val="E6EDF3"/>
                </a:solidFill>
                <a:latin typeface="Courier New"/>
              </a:rPr>
              <a:t>  </a:t>
            </a:r>
            <a:r>
              <a:rPr sz="1250" dirty="0">
                <a:solidFill>
                  <a:srgbClr val="E6EDF3"/>
                </a:solidFill>
                <a:latin typeface="Courier New"/>
              </a:rPr>
              <a:t>response_label, </a:t>
            </a:r>
            <a:endParaRPr lang="en-US" sz="125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250" dirty="0">
                <a:solidFill>
                  <a:srgbClr val="E6EDF3"/>
                </a:solidFill>
                <a:latin typeface="Courier New"/>
              </a:rPr>
              <a:t>  </a:t>
            </a:r>
            <a:r>
              <a:rPr sz="1250" dirty="0">
                <a:solidFill>
                  <a:srgbClr val="E6EDF3"/>
                </a:solidFill>
                <a:latin typeface="Courier New"/>
              </a:rPr>
              <a:t>value</a:t>
            </a:r>
          </a:p>
          <a:p>
            <a:pPr>
              <a:lnSpc>
                <a:spcPct val="100000"/>
              </a:lnSpc>
            </a:pPr>
            <a:r>
              <a:rPr sz="1250" dirty="0">
                <a:solidFill>
                  <a:srgbClr val="E6EDF3"/>
                </a:solidFill>
                <a:latin typeface="Courier New"/>
              </a:rPr>
              <a:t>FROM responses</a:t>
            </a:r>
          </a:p>
          <a:p>
            <a:pPr>
              <a:lnSpc>
                <a:spcPct val="100000"/>
              </a:lnSpc>
            </a:pPr>
            <a:r>
              <a:rPr sz="1250" dirty="0">
                <a:solidFill>
                  <a:srgbClr val="E6EDF3"/>
                </a:solidFill>
                <a:latin typeface="Courier New"/>
              </a:rPr>
              <a:t>JOIN question USING (question_concept_id)</a:t>
            </a:r>
          </a:p>
          <a:p>
            <a:pPr>
              <a:lnSpc>
                <a:spcPct val="100000"/>
              </a:lnSpc>
            </a:pPr>
            <a:r>
              <a:rPr sz="1250" dirty="0">
                <a:solidFill>
                  <a:srgbClr val="E6EDF3"/>
                </a:solidFill>
                <a:latin typeface="Courier New"/>
              </a:rPr>
              <a:t>LEFT JOIN response USING (response_concept_id)</a:t>
            </a:r>
          </a:p>
          <a:p>
            <a:pPr>
              <a:lnSpc>
                <a:spcPct val="100000"/>
              </a:lnSpc>
            </a:pPr>
            <a:r>
              <a:rPr sz="1250" dirty="0">
                <a:solidFill>
                  <a:srgbClr val="E6EDF3"/>
                </a:solidFill>
                <a:latin typeface="Courier New"/>
              </a:rPr>
              <a:t>WHERE connect_id = 1001;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759AA-46EE-5C57-160E-B8F25D2F6AAD}"/>
              </a:ext>
            </a:extLst>
          </p:cNvPr>
          <p:cNvSpPr txBox="1"/>
          <p:nvPr/>
        </p:nvSpPr>
        <p:spPr>
          <a:xfrm>
            <a:off x="739725" y="624867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latin typeface="Calibri"/>
              </a:rPr>
              <a:t>no 2,360-column map.. the dictionary travels with the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39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0B60-1F7A-6D12-F307-6257364C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D331-DDB2-6D5F-FF66-CA670288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74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/>
              </a:rPr>
              <a:t>Analyzing long format (2/3): </a:t>
            </a:r>
            <a:br>
              <a:rPr lang="en-US" sz="4000" b="1" dirty="0">
                <a:latin typeface="Calibri"/>
              </a:rPr>
            </a:br>
            <a:r>
              <a:rPr lang="en-US" sz="4000" b="1" dirty="0">
                <a:latin typeface="Calibri"/>
              </a:rPr>
              <a:t>	</a:t>
            </a:r>
            <a:r>
              <a:rPr lang="en-US" sz="3600" b="1" dirty="0">
                <a:latin typeface="Calibri"/>
              </a:rPr>
              <a:t>Wide is one generic PIVOT away</a:t>
            </a:r>
            <a:br>
              <a:rPr lang="en-US" sz="4000" b="1" dirty="0">
                <a:latin typeface="Calibri"/>
              </a:rPr>
            </a:br>
            <a:br>
              <a:rPr lang="en-US" b="1" dirty="0">
                <a:latin typeface="Calibri"/>
              </a:rPr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55216-C40F-6E95-DED4-2D537B5EE78D}"/>
              </a:ext>
            </a:extLst>
          </p:cNvPr>
          <p:cNvSpPr txBox="1"/>
          <p:nvPr/>
        </p:nvSpPr>
        <p:spPr>
          <a:xfrm>
            <a:off x="838199" y="1210213"/>
            <a:ext cx="7236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Pick your tool. One line, and none of them name a single column.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EBB9E-FE9A-8DCD-6763-CE9A1B57FFF2}"/>
              </a:ext>
            </a:extLst>
          </p:cNvPr>
          <p:cNvSpPr/>
          <p:nvPr/>
        </p:nvSpPr>
        <p:spPr>
          <a:xfrm>
            <a:off x="1364565" y="1747216"/>
            <a:ext cx="9038492" cy="2536405"/>
          </a:xfrm>
          <a:prstGeom prst="rect">
            <a:avLst/>
          </a:prstGeom>
          <a:solidFill>
            <a:srgbClr val="1E2935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rtlCol="0" anchor="t"/>
          <a:lstStyle/>
          <a:p>
            <a:pPr>
              <a:lnSpc>
                <a:spcPct val="100000"/>
              </a:lnSpc>
            </a:pPr>
            <a:r>
              <a:rPr sz="1200" dirty="0">
                <a:solidFill>
                  <a:srgbClr val="8BA6C0"/>
                </a:solidFill>
                <a:latin typeface="Courier New"/>
              </a:rPr>
              <a:t>-- SQ</a:t>
            </a:r>
            <a:r>
              <a:rPr lang="en-US" sz="1200" dirty="0">
                <a:solidFill>
                  <a:srgbClr val="8BA6C0"/>
                </a:solidFill>
                <a:latin typeface="Courier New"/>
              </a:rPr>
              <a:t>L:</a:t>
            </a:r>
            <a:r>
              <a:rPr sz="1200" dirty="0">
                <a:solidFill>
                  <a:srgbClr val="8BA6C0"/>
                </a:solidFill>
                <a:latin typeface="Courier New"/>
              </a:rPr>
              <a:t> column names come from the DATA, not from you</a:t>
            </a:r>
            <a:r>
              <a:rPr lang="en-US" sz="1200" dirty="0">
                <a:solidFill>
                  <a:srgbClr val="8BA6C0"/>
                </a:solidFill>
                <a:latin typeface="Courier New"/>
              </a:rPr>
              <a:t> (tested this syntax in DuckDB, not BQ)</a:t>
            </a:r>
            <a:endParaRPr sz="1200" dirty="0">
              <a:solidFill>
                <a:srgbClr val="8BA6C0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E6EDF3"/>
                </a:solidFill>
                <a:latin typeface="Courier New"/>
              </a:rPr>
              <a:t>PIVOT (</a:t>
            </a:r>
            <a:endParaRPr lang="en-US" sz="120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6EDF3"/>
                </a:solidFill>
                <a:latin typeface="Courier New"/>
              </a:rPr>
              <a:t> 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SELECT connect_id,</a:t>
            </a:r>
            <a:r>
              <a:rPr lang="en-US" sz="1200" dirty="0">
                <a:solidFill>
                  <a:srgbClr val="E6EDF3"/>
                </a:solidFill>
                <a:latin typeface="Courier New"/>
              </a:rPr>
              <a:t> 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question_text,</a:t>
            </a:r>
            <a:r>
              <a:rPr lang="en-US" sz="1200" dirty="0">
                <a:solidFill>
                  <a:srgbClr val="E6EDF3"/>
                </a:solidFill>
                <a:latin typeface="Courier New"/>
              </a:rPr>
              <a:t> 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answer</a:t>
            </a:r>
            <a:endParaRPr lang="en-US" sz="120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6EDF3"/>
                </a:solidFill>
                <a:latin typeface="Courier New"/>
              </a:rPr>
              <a:t> FROM v_long 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E6EDF3"/>
                </a:solidFill>
                <a:latin typeface="Courier New"/>
              </a:rPr>
              <a:t> WHERE question_type </a:t>
            </a:r>
            <a:r>
              <a:rPr lang="en-US" sz="1200" dirty="0">
                <a:solidFill>
                  <a:srgbClr val="E6EDF3"/>
                </a:solidFill>
                <a:latin typeface="Courier New"/>
              </a:rPr>
              <a:t>!=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'multiselect’</a:t>
            </a:r>
            <a:endParaRPr lang="en-US" sz="120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E6EDF3"/>
                </a:solidFill>
                <a:latin typeface="Courier New"/>
              </a:rPr>
              <a:t>)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ON question_text USING any</a:t>
            </a:r>
            <a:r>
              <a:rPr lang="en-US" sz="1200" dirty="0">
                <a:solidFill>
                  <a:srgbClr val="E6EDF3"/>
                </a:solidFill>
                <a:latin typeface="Courier New"/>
              </a:rPr>
              <a:t>_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value(answer);</a:t>
            </a: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E6EDF3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8BA6C0"/>
                </a:solidFill>
                <a:latin typeface="Courier New"/>
              </a:rPr>
              <a:t># Python (pandas)</a:t>
            </a: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E6EDF3"/>
                </a:solidFill>
                <a:latin typeface="Courier New"/>
              </a:rPr>
              <a:t>long.pivot(index='connect_id', columns='question_text', values='answer')</a:t>
            </a: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E6EDF3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8BA6C0"/>
                </a:solidFill>
                <a:latin typeface="Courier New"/>
              </a:rPr>
              <a:t># R (tidyr)</a:t>
            </a: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E6EDF3"/>
                </a:solidFill>
                <a:latin typeface="Courier New"/>
              </a:rPr>
              <a:t>pivot_wider(long, id_cols=connect_id, names_from=question_text, values_from=answer)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AF992D-A0D1-D984-058B-0118264F1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33235"/>
              </p:ext>
            </p:extLst>
          </p:nvPr>
        </p:nvGraphicFramePr>
        <p:xfrm>
          <a:off x="1364565" y="4518345"/>
          <a:ext cx="9038491" cy="1589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0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834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connect_id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Education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Smoking Status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834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222A33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Bachelor's Degree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Former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8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A33"/>
                          </a:solidFill>
                          <a:latin typeface="Calibri"/>
                        </a:rPr>
                        <a:t>1002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High School Graduate or GED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8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A33"/>
                          </a:solidFill>
                          <a:latin typeface="Calibri"/>
                        </a:rPr>
                        <a:t>1003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22A33"/>
                          </a:solidFill>
                          <a:latin typeface="Calibri"/>
                        </a:rPr>
                        <a:t>Advanced Degree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8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A33"/>
                          </a:solidFill>
                          <a:latin typeface="Calibri"/>
                        </a:rPr>
                        <a:t>1004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Bachelor's Degree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Male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8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A33"/>
                          </a:solidFill>
                          <a:latin typeface="Calibri"/>
                        </a:rPr>
                        <a:t>1005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22A33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22A33"/>
                          </a:solidFill>
                          <a:latin typeface="Calibri"/>
                        </a:rPr>
                        <a:t>High School Graduate or GED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3"/>
                          </a:solidFill>
                          <a:latin typeface="Calibri"/>
                        </a:rPr>
                        <a:t>Female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22A33"/>
                          </a:solidFill>
                          <a:latin typeface="Calibri"/>
                        </a:rPr>
                        <a:t>Former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3C582C-90D1-79C1-5D6F-CF6BAC5906FA}"/>
              </a:ext>
            </a:extLst>
          </p:cNvPr>
          <p:cNvSpPr txBox="1"/>
          <p:nvPr/>
        </p:nvSpPr>
        <p:spPr>
          <a:xfrm>
            <a:off x="302455" y="6192032"/>
            <a:ext cx="112471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 dirty="0">
                <a:latin typeface="Calibri"/>
              </a:rPr>
              <a:t>Column names come from the data, not from you add a question, get a new column. Wrap it once as get_wide(survey) and every team reuses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00A00-0A4D-5EE1-D157-013E9789C919}"/>
              </a:ext>
            </a:extLst>
          </p:cNvPr>
          <p:cNvSpPr txBox="1"/>
          <p:nvPr/>
        </p:nvSpPr>
        <p:spPr>
          <a:xfrm>
            <a:off x="302455" y="6480571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5A636E"/>
                </a:solidFill>
                <a:latin typeface="Calibri"/>
              </a:rPr>
              <a:t>pandas &amp; tidyr discover columns automatically; BigQuery's PIVOT lists the values (or generate them with dynamic SQL). `long` = the single-value answers.</a:t>
            </a:r>
          </a:p>
        </p:txBody>
      </p:sp>
    </p:spTree>
    <p:extLst>
      <p:ext uri="{BB962C8B-B14F-4D97-AF65-F5344CB8AC3E}">
        <p14:creationId xmlns:p14="http://schemas.microsoft.com/office/powerpoint/2010/main" val="1327675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944E4-C932-AADF-6A35-A1863735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FAAA-BA1C-099C-684D-1297837A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15" y="878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libri"/>
              </a:rPr>
              <a:t>Analyzing long format (3/3): Counts are a simple GROUP BY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EAA760-9364-5FFB-93E4-0C1C94E77EEB}"/>
              </a:ext>
            </a:extLst>
          </p:cNvPr>
          <p:cNvSpPr/>
          <p:nvPr/>
        </p:nvSpPr>
        <p:spPr>
          <a:xfrm>
            <a:off x="668215" y="1413432"/>
            <a:ext cx="5486400" cy="2194560"/>
          </a:xfrm>
          <a:prstGeom prst="rect">
            <a:avLst/>
          </a:prstGeom>
          <a:solidFill>
            <a:srgbClr val="1E2935"/>
          </a:solidFill>
          <a:ln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37160" rtlCol="0" anchor="t"/>
          <a:lstStyle/>
          <a:p>
            <a:pPr>
              <a:lnSpc>
                <a:spcPct val="100000"/>
              </a:lnSpc>
            </a:pPr>
            <a:r>
              <a:rPr sz="1400" dirty="0">
                <a:solidFill>
                  <a:srgbClr val="8BA6C0"/>
                </a:solidFill>
                <a:latin typeface="Courier New"/>
              </a:rPr>
              <a:t>-- how many selected each tooth-loss reason?</a:t>
            </a:r>
          </a:p>
          <a:p>
            <a:pPr>
              <a:lnSpc>
                <a:spcPct val="100000"/>
              </a:lnSpc>
            </a:pPr>
            <a:endParaRPr lang="en-US" sz="1400" dirty="0">
              <a:solidFill>
                <a:srgbClr val="E6EDF3"/>
              </a:solidFill>
              <a:latin typeface="Courier New"/>
            </a:endParaRPr>
          </a:p>
          <a:p>
            <a:pPr>
              <a:lnSpc>
                <a:spcPct val="100000"/>
              </a:lnSpc>
            </a:pPr>
            <a:r>
              <a:rPr sz="1400" dirty="0">
                <a:solidFill>
                  <a:srgbClr val="E6EDF3"/>
                </a:solidFill>
                <a:latin typeface="Courier New"/>
              </a:rPr>
              <a:t>SELECT response_label, COUNT(*) AS n</a:t>
            </a:r>
          </a:p>
          <a:p>
            <a:pPr>
              <a:lnSpc>
                <a:spcPct val="100000"/>
              </a:lnSpc>
            </a:pPr>
            <a:r>
              <a:rPr sz="1400" dirty="0">
                <a:solidFill>
                  <a:srgbClr val="E6EDF3"/>
                </a:solidFill>
                <a:latin typeface="Courier New"/>
              </a:rPr>
              <a:t>FROM v_long</a:t>
            </a:r>
          </a:p>
          <a:p>
            <a:pPr>
              <a:lnSpc>
                <a:spcPct val="100000"/>
              </a:lnSpc>
            </a:pPr>
            <a:r>
              <a:rPr sz="1400" dirty="0">
                <a:solidFill>
                  <a:srgbClr val="E6EDF3"/>
                </a:solidFill>
                <a:latin typeface="Courier New"/>
              </a:rPr>
              <a:t>WHERE question_concept_id = 899251483</a:t>
            </a:r>
          </a:p>
          <a:p>
            <a:pPr>
              <a:lnSpc>
                <a:spcPct val="100000"/>
              </a:lnSpc>
            </a:pPr>
            <a:r>
              <a:rPr sz="1400" dirty="0">
                <a:solidFill>
                  <a:srgbClr val="E6EDF3"/>
                </a:solidFill>
                <a:latin typeface="Courier New"/>
              </a:rPr>
              <a:t>GROUP BY response_label</a:t>
            </a:r>
          </a:p>
          <a:p>
            <a:pPr>
              <a:lnSpc>
                <a:spcPct val="100000"/>
              </a:lnSpc>
            </a:pPr>
            <a:r>
              <a:rPr sz="1400" dirty="0">
                <a:solidFill>
                  <a:srgbClr val="E6EDF3"/>
                </a:solidFill>
                <a:latin typeface="Courier New"/>
              </a:rPr>
              <a:t>ORDER BY n DESC;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AEAE2D-F224-D1D5-02C6-40670224C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617539"/>
              </p:ext>
            </p:extLst>
          </p:nvPr>
        </p:nvGraphicFramePr>
        <p:xfrm>
          <a:off x="6782973" y="1490433"/>
          <a:ext cx="47408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tooth_loss_reason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27432" marB="27432" anchor="ctr"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22A33"/>
                          </a:solidFill>
                          <a:latin typeface="Calibri"/>
                        </a:rPr>
                        <a:t>Yes, from tooth decay or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Yes, from accident or injury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Yes, for some other reason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A33"/>
                          </a:solidFill>
                          <a:latin typeface="Calibri"/>
                        </a:rPr>
                        <a:t>No, I haven't lost any teeth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A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59E3E6F-E6E0-D4CD-DFA8-78040B421AD1}"/>
              </a:ext>
            </a:extLst>
          </p:cNvPr>
          <p:cNvSpPr txBox="1"/>
          <p:nvPr/>
        </p:nvSpPr>
        <p:spPr>
          <a:xfrm>
            <a:off x="668215" y="4114800"/>
            <a:ext cx="1124712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dirty="0">
                <a:latin typeface="Calibri"/>
              </a:rPr>
              <a:t>In wide, that means summing N ever-changing 0/1 indicator columns; in long it's the same group-by you'd write for any question.</a:t>
            </a:r>
            <a:endParaRPr lang="en-US" b="1" dirty="0">
              <a:latin typeface="Calibri"/>
            </a:endParaRPr>
          </a:p>
          <a:p>
            <a:pPr algn="l"/>
            <a:endParaRPr lang="en-US" b="1" dirty="0"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/>
              </a:rPr>
              <a:t>Swap the concept id and the same one-liner counts smoking, education, anything. One pattern for every question.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300" b="0" i="1" dirty="0">
              <a:solidFill>
                <a:srgbClr val="5A636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955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4748F-8A07-33EA-3298-E73CABD1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364795-15B0-B568-3293-45C926DF5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99" y="475653"/>
            <a:ext cx="9534235" cy="6342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7475FE-65D3-0E13-AC23-C4271C0DDEFA}"/>
              </a:ext>
            </a:extLst>
          </p:cNvPr>
          <p:cNvSpPr txBox="1"/>
          <p:nvPr/>
        </p:nvSpPr>
        <p:spPr>
          <a:xfrm>
            <a:off x="1183147" y="49244"/>
            <a:ext cx="2022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Participant Details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21D40-8AD4-3305-A1CD-545AF4C99E57}"/>
              </a:ext>
            </a:extLst>
          </p:cNvPr>
          <p:cNvSpPr txBox="1"/>
          <p:nvPr/>
        </p:nvSpPr>
        <p:spPr>
          <a:xfrm>
            <a:off x="3917576" y="48940"/>
            <a:ext cx="1346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Event plane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DD9E03-C5A2-F3AC-DF9B-36AAC3994D52}"/>
              </a:ext>
            </a:extLst>
          </p:cNvPr>
          <p:cNvSpPr txBox="1"/>
          <p:nvPr/>
        </p:nvSpPr>
        <p:spPr>
          <a:xfrm>
            <a:off x="8520952" y="48940"/>
            <a:ext cx="3108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Survey Meta Data </a:t>
            </a:r>
            <a:r>
              <a:rPr lang="en-US" sz="1100" i="1"/>
              <a:t>(loaded from DD)</a:t>
            </a:r>
            <a:endParaRPr lang="en-US" i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F798B-2F79-D920-F326-504574BD2FA9}"/>
              </a:ext>
            </a:extLst>
          </p:cNvPr>
          <p:cNvSpPr txBox="1"/>
          <p:nvPr/>
        </p:nvSpPr>
        <p:spPr>
          <a:xfrm>
            <a:off x="6283881" y="4894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Responses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20727F-A6B7-DDE0-4AC6-9DB92207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511869"/>
            <a:ext cx="5941650" cy="1160601"/>
          </a:xfrm>
        </p:spPr>
        <p:txBody>
          <a:bodyPr>
            <a:noAutofit/>
          </a:bodyPr>
          <a:lstStyle/>
          <a:p>
            <a:r>
              <a:rPr lang="en-US" sz="2400" dirty="0"/>
              <a:t>How does the event plane map to our current “survey-centered” data dictionary? </a:t>
            </a:r>
          </a:p>
        </p:txBody>
      </p:sp>
    </p:spTree>
    <p:extLst>
      <p:ext uri="{BB962C8B-B14F-4D97-AF65-F5344CB8AC3E}">
        <p14:creationId xmlns:p14="http://schemas.microsoft.com/office/powerpoint/2010/main" val="840078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04B9-D8A7-7C73-E764-5E3BFDFB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4BC4-6224-4EDC-B0F2-F7E72058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stage 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D586DB-E8C0-9685-A03E-EEBE6EC3C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1) Long format responses table linked to meta data </a:t>
            </a:r>
          </a:p>
          <a:p>
            <a:pPr lvl="1"/>
            <a:r>
              <a:rPr lang="en-US" dirty="0"/>
              <a:t>Minimal change to achieve stable schema, self-describing schema</a:t>
            </a:r>
          </a:p>
          <a:p>
            <a:pPr lvl="1"/>
            <a:r>
              <a:rPr lang="en-US" dirty="0"/>
              <a:t>Question type</a:t>
            </a:r>
          </a:p>
          <a:p>
            <a:pPr lvl="1"/>
            <a:r>
              <a:rPr lang="en-US" dirty="0"/>
              <a:t>Loop iteration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2) Modify data model to include</a:t>
            </a:r>
          </a:p>
          <a:p>
            <a:pPr lvl="1"/>
            <a:r>
              <a:rPr lang="en-US" dirty="0"/>
              <a:t>Skip Logic (inspiration from </a:t>
            </a:r>
            <a:r>
              <a:rPr lang="en-US" dirty="0" err="1"/>
              <a:t>quickQ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Versioning</a:t>
            </a:r>
          </a:p>
          <a:p>
            <a:pPr lvl="1"/>
            <a:r>
              <a:rPr lang="en-US" dirty="0"/>
              <a:t>Concept relationships (inspiration from OMOP)</a:t>
            </a:r>
          </a:p>
          <a:p>
            <a:r>
              <a:rPr lang="en-US" dirty="0"/>
              <a:t>Stage 2 benefits</a:t>
            </a:r>
          </a:p>
          <a:p>
            <a:pPr lvl="1"/>
            <a:r>
              <a:rPr lang="en-US" dirty="0"/>
              <a:t>Common abstraction for question types allows same analyses to be applied to any question of the same type</a:t>
            </a:r>
          </a:p>
          <a:p>
            <a:pPr lvl="1"/>
            <a:r>
              <a:rPr lang="en-US" dirty="0"/>
              <a:t>Skip-logic-aware analytics (true </a:t>
            </a:r>
            <a:r>
              <a:rPr lang="en-US" dirty="0" err="1"/>
              <a:t>missingnessness</a:t>
            </a:r>
            <a:r>
              <a:rPr lang="en-US" dirty="0"/>
              <a:t>) without side-care documentation</a:t>
            </a:r>
          </a:p>
          <a:p>
            <a:pPr lvl="1"/>
            <a:r>
              <a:rPr lang="en-US" dirty="0"/>
              <a:t>Version handling – Researchers cannot easily overlook appropriate handling of survey/question versions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493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5452</TotalTime>
  <Words>882</Words>
  <Application>Microsoft Macintosh PowerPoint</Application>
  <PresentationFormat>Widescreen</PresentationFormat>
  <Paragraphs>135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Office Theme</vt:lpstr>
      <vt:lpstr>Why we need a data model</vt:lpstr>
      <vt:lpstr>PowerPoint Presentation</vt:lpstr>
      <vt:lpstr>PowerPoint Presentation</vt:lpstr>
      <vt:lpstr>PowerPoint Presentation</vt:lpstr>
      <vt:lpstr>Analyzing long format (1/3): Labels are one join away </vt:lpstr>
      <vt:lpstr>Analyzing long format (2/3):   Wide is one generic PIVOT away  </vt:lpstr>
      <vt:lpstr>Analyzing long format (3/3): Counts are a simple GROUP BY</vt:lpstr>
      <vt:lpstr>How does the event plane map to our current “survey-centered” data dictionary? </vt:lpstr>
      <vt:lpstr>2 stage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Peters, Jacob (NIH/NCI) [C]</dc:creator>
  <cp:lastModifiedBy>Peters, Jacob (NIH/NCI) [C]</cp:lastModifiedBy>
  <cp:revision>4</cp:revision>
  <dcterms:created xsi:type="dcterms:W3CDTF">2026-06-22T20:26:04Z</dcterms:created>
  <dcterms:modified xsi:type="dcterms:W3CDTF">2026-06-26T19:42:34Z</dcterms:modified>
</cp:coreProperties>
</file>